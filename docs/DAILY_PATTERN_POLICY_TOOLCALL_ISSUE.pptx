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286D7-6B90-7671-367D-35E1D2BE8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FD3305-C282-D5AB-426D-DE5BB7EB4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192BFE-DE99-D5F9-A8E5-BF2A5549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87DDF6-63AF-E6B0-9C3C-9406B558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662857-5020-E78B-5994-8AF95364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220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EEA7A-C4A3-8D3E-F576-2B75803A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32905-3A2B-5949-78E6-C77EDB6F8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F2C2C3-FA87-4EB9-5725-D68C673A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F3CC92-3744-94FE-D596-9417479F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75FB9-5E99-D4D3-C25A-68544ECE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782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37C9D-9A29-0E27-6576-1DC78D46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19672D-F4D3-93B7-E46A-0ECBA2771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3490D4-21EF-D534-E220-1FE5F65CC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2BA591-E399-20F4-582E-50C48D9F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44089A-5620-7F18-EE0D-F75958C9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58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D4011-C475-8817-A796-8FA18F0E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64F904-6E77-1C20-ECFD-9D5250F7E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0A4F6B-BFE1-ADC1-BB34-7F6F9832F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F2CF86-E310-C256-63BD-1A904CF2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986A99-A59D-8067-4BB1-2536E762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AA8DCF-5994-36FF-E315-294B8475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32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5C5BF-1D03-7B70-96DC-EE320403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A3E777-B072-4CE5-F11D-6791D8B65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AC8BFE-D443-5CAB-04D9-C98364F9C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3BCEDF-30BF-322D-1A79-4F3C2804B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0FABAE-E636-5473-4EAF-B01BC4D96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3ED1ED-7BD6-D5C3-4158-4D2A6592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38F71C-D39E-A7ED-1AF2-A3432163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03F5B3-3B3F-C3D6-58AA-6C63EE52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371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07B6A-DAB2-66F7-CC47-DE10700F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B8C9A4-8980-71EB-21BD-9AEDF8E5A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C0AC71-048D-F884-021C-894C2AC4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3F0176-6D11-9426-203B-E3FA2FBB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05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0964D8-3C82-4FA8-CA69-A45E17F1F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A18C34-19A6-17D2-CA7B-0C3ADDB6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540B4-6A12-C9A3-08BC-DD256D15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72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8CA05-E40B-5080-769A-B819281F8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142681-E6CD-5632-1A8F-DE8BEA64D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EBC98E-C458-73F2-4996-8601265F3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331C31-EB5B-3027-9602-BAD8EAB9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F4A365-A1BC-9E4A-73A9-9D6150C5E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D490A3-2656-5C38-C864-2FCF46135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45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416237-1540-F584-53F7-344E0B1EC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514251-5150-F168-6F3B-E33E92CECC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EBAA4D-BC9F-0D49-8E2A-8AEF6FD02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69B7BD-7289-021D-211B-4AD36C3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5A4896-2213-939A-2CFB-194E72FF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471983-4D86-19C7-6900-F8DC7962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6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687CA-ABD0-8392-8471-96E203C7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4657BA-10A8-EFE7-8BF5-BDA78214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69EFE-6044-EF7A-BDA9-E484B9395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40B19-2BCF-D91C-B71C-FABE684B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6CBD0E-BC2E-4046-9E78-C619A73A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86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2DDCA2E-2DD5-C6AF-6432-7E3B2A354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D9623-E1B5-F211-7F56-7F0408366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7E5A-FCC0-CA65-9245-DCA90C238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A67D41-11AC-5305-C5C7-DE343D68B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F2A2B8-D826-6F10-9377-E742DBF7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22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004A47-E021-432A-846E-B6D63F3C3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D16FB6-4DA5-CC58-0AF5-831C4F9F8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44573C-B8D4-A34F-42A9-8E6B0F16E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9C512-D67E-4864-9B91-3D1BA57AAD11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35C26-DF50-9647-6F6A-E2392C511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3537B-7404-AE76-8D59-E96BEA007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0F524-F221-4BF1-8367-8122B5DD0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5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987D1F5-0C91-CF63-2F55-8976685F3F31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6DA31B6-4855-8109-3766-BE2984E6B92E}"/>
              </a:ext>
            </a:extLst>
          </p:cNvPr>
          <p:cNvSpPr txBox="1"/>
          <p:nvPr/>
        </p:nvSpPr>
        <p:spPr>
          <a:xfrm>
            <a:off x="685800" y="330200"/>
            <a:ext cx="8255000" cy="425758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Daily Pattern Tool Call </a:t>
            </a:r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누락 이슈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A237095-0265-F32A-F5AB-B58F2D1A4CFE}"/>
              </a:ext>
            </a:extLst>
          </p:cNvPr>
          <p:cNvSpPr txBox="1"/>
          <p:nvPr/>
        </p:nvSpPr>
        <p:spPr>
          <a:xfrm>
            <a:off x="698500" y="787400"/>
            <a:ext cx="96520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분석은 성공했지만 정책 후보 확인 알림 생성이 멈춘 사례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70D7360-5711-7510-2540-2CE4062A52FB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ain">
            <a:extLst>
              <a:ext uri="{FF2B5EF4-FFF2-40B4-BE49-F238E27FC236}">
                <a16:creationId xmlns:a16="http://schemas.microsoft.com/office/drawing/2014/main" id="{98E23F9C-9301-FF53-F7DC-DDBC2B238A59}"/>
              </a:ext>
            </a:extLst>
          </p:cNvPr>
          <p:cNvSpPr txBox="1"/>
          <p:nvPr/>
        </p:nvSpPr>
        <p:spPr>
          <a:xfrm>
            <a:off x="685800" y="1549400"/>
            <a:ext cx="10668000" cy="718145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2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패턴 분석과 후보 생성은 완료됐지만</a:t>
            </a:r>
            <a:r>
              <a:rPr lang="en-US" altLang="ko-KR" sz="2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</a:p>
          <a:p>
            <a:r>
              <a:rPr lang="ko-KR" altLang="en-US" sz="2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최종 후보 알림을 만드는 </a:t>
            </a:r>
            <a:r>
              <a:rPr lang="en-US" altLang="ko-KR" sz="2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</a:t>
            </a:r>
            <a:r>
              <a:rPr lang="ko-KR" altLang="en-US" sz="2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비어 제품 흐름이 끊겼다</a:t>
            </a:r>
            <a:r>
              <a:rPr lang="en-US" altLang="ko-KR" sz="2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BBEEC86-72C8-EA33-1552-0B8B86CB54D1}"/>
              </a:ext>
            </a:extLst>
          </p:cNvPr>
          <p:cNvSpPr/>
          <p:nvPr/>
        </p:nvSpPr>
        <p:spPr>
          <a:xfrm>
            <a:off x="685800" y="2895600"/>
            <a:ext cx="11176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900" b="1">
                <a:solidFill>
                  <a:srgbClr val="2563E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복약 기록</a:t>
            </a:r>
          </a:p>
        </p:txBody>
      </p:sp>
      <p:sp>
        <p:nvSpPr>
          <p:cNvPr id="8" name="Metric">
            <a:extLst>
              <a:ext uri="{FF2B5EF4-FFF2-40B4-BE49-F238E27FC236}">
                <a16:creationId xmlns:a16="http://schemas.microsoft.com/office/drawing/2014/main" id="{D4506D0D-7E4C-2A99-45FB-9245312BFD89}"/>
              </a:ext>
            </a:extLst>
          </p:cNvPr>
          <p:cNvSpPr/>
          <p:nvPr/>
        </p:nvSpPr>
        <p:spPr>
          <a:xfrm>
            <a:off x="685800" y="3352800"/>
            <a:ext cx="2336800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 미복용</a:t>
            </a:r>
          </a:p>
          <a:p>
            <a:pPr algn="ctr"/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아침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08:00 /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점심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13:00 /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야간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21:00</a:t>
            </a:r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305C771-7392-1903-FE03-C809CC0B6C84}"/>
              </a:ext>
            </a:extLst>
          </p:cNvPr>
          <p:cNvSpPr/>
          <p:nvPr/>
        </p:nvSpPr>
        <p:spPr>
          <a:xfrm>
            <a:off x="3505200" y="2895600"/>
            <a:ext cx="11176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900" b="1">
                <a:solidFill>
                  <a:srgbClr val="16A34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분석 결과</a:t>
            </a:r>
          </a:p>
        </p:txBody>
      </p:sp>
      <p:sp>
        <p:nvSpPr>
          <p:cNvPr id="10" name="Metric">
            <a:extLst>
              <a:ext uri="{FF2B5EF4-FFF2-40B4-BE49-F238E27FC236}">
                <a16:creationId xmlns:a16="http://schemas.microsoft.com/office/drawing/2014/main" id="{30270515-B36C-CAEA-E778-C0F2938194C9}"/>
              </a:ext>
            </a:extLst>
          </p:cNvPr>
          <p:cNvSpPr/>
          <p:nvPr/>
        </p:nvSpPr>
        <p:spPr>
          <a:xfrm>
            <a:off x="3505200" y="3352800"/>
            <a:ext cx="2336800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생성</a:t>
            </a:r>
          </a:p>
          <a:p>
            <a:pPr algn="ctr"/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ctr"/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schema recovery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suggested_policies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정상 생성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1C9FDED-7F8B-3E0A-4CFD-B6C9992CF0D7}"/>
              </a:ext>
            </a:extLst>
          </p:cNvPr>
          <p:cNvSpPr/>
          <p:nvPr/>
        </p:nvSpPr>
        <p:spPr>
          <a:xfrm>
            <a:off x="6324600" y="2895600"/>
            <a:ext cx="11176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900" b="1">
                <a:solidFill>
                  <a:srgbClr val="DC262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누락 지점</a:t>
            </a:r>
          </a:p>
        </p:txBody>
      </p:sp>
      <p:sp>
        <p:nvSpPr>
          <p:cNvPr id="12" name="Metric">
            <a:extLst>
              <a:ext uri="{FF2B5EF4-FFF2-40B4-BE49-F238E27FC236}">
                <a16:creationId xmlns:a16="http://schemas.microsoft.com/office/drawing/2014/main" id="{CBB6105F-E695-1C6F-4233-BCF0D28C93B2}"/>
              </a:ext>
            </a:extLst>
          </p:cNvPr>
          <p:cNvSpPr/>
          <p:nvPr/>
        </p:nvSpPr>
        <p:spPr>
          <a:xfrm>
            <a:off x="6324600" y="3352800"/>
            <a:ext cx="2336800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0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</a:p>
          <a:p>
            <a:pPr algn="ctr"/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ctr"/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propose_notification_policy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반환되지 않음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AE42AAF-95FF-17D5-2835-61D1692EAD72}"/>
              </a:ext>
            </a:extLst>
          </p:cNvPr>
          <p:cNvSpPr/>
          <p:nvPr/>
        </p:nvSpPr>
        <p:spPr>
          <a:xfrm>
            <a:off x="9144000" y="2895600"/>
            <a:ext cx="11176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900" b="1">
                <a:solidFill>
                  <a:srgbClr val="D9770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사용자 영향</a:t>
            </a:r>
          </a:p>
        </p:txBody>
      </p:sp>
      <p:sp>
        <p:nvSpPr>
          <p:cNvPr id="14" name="Metric">
            <a:extLst>
              <a:ext uri="{FF2B5EF4-FFF2-40B4-BE49-F238E27FC236}">
                <a16:creationId xmlns:a16="http://schemas.microsoft.com/office/drawing/2014/main" id="{A1F80C14-1F94-E181-8158-69E3CD9A00A2}"/>
              </a:ext>
            </a:extLst>
          </p:cNvPr>
          <p:cNvSpPr/>
          <p:nvPr/>
        </p:nvSpPr>
        <p:spPr>
          <a:xfrm>
            <a:off x="9144000" y="3352800"/>
            <a:ext cx="2336800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미생성</a:t>
            </a:r>
          </a:p>
          <a:p>
            <a:pPr algn="ctr"/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정책 조정 확인 흐름 중단</a:t>
            </a:r>
          </a:p>
        </p:txBody>
      </p:sp>
      <p:sp>
        <p:nvSpPr>
          <p:cNvPr id="15" name="Takeaway">
            <a:extLst>
              <a:ext uri="{FF2B5EF4-FFF2-40B4-BE49-F238E27FC236}">
                <a16:creationId xmlns:a16="http://schemas.microsoft.com/office/drawing/2014/main" id="{7751DBA4-7E39-7D61-31FC-362747F8A85B}"/>
              </a:ext>
            </a:extLst>
          </p:cNvPr>
          <p:cNvSpPr/>
          <p:nvPr/>
        </p:nvSpPr>
        <p:spPr>
          <a:xfrm>
            <a:off x="1041400" y="5334000"/>
            <a:ext cx="10109200" cy="635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핵심은 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분석 실패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아니라 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후보를 실행 가능한 제품 액션으로 전환하지 못한 판단 기준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A915ABD4-9CC5-2D11-B529-37EAEF5B6CC0}"/>
              </a:ext>
            </a:extLst>
          </p:cNvPr>
          <p:cNvSpPr txBox="1"/>
          <p:nvPr/>
        </p:nvSpPr>
        <p:spPr>
          <a:xfrm>
            <a:off x="495300" y="6540500"/>
            <a:ext cx="8763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Daily pattern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후보 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누락 이슈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5EED8AA0-276A-BD35-779C-E85BA1FB6092}"/>
              </a:ext>
            </a:extLst>
          </p:cNvPr>
          <p:cNvSpPr txBox="1"/>
          <p:nvPr/>
        </p:nvSpPr>
        <p:spPr>
          <a:xfrm>
            <a:off x="11074400" y="6540500"/>
            <a:ext cx="635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048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EB99606-F506-2FE2-E943-DA35B965314D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0A4ED90-4070-EFB6-1B91-208279AA0F60}"/>
              </a:ext>
            </a:extLst>
          </p:cNvPr>
          <p:cNvSpPr txBox="1"/>
          <p:nvPr/>
        </p:nvSpPr>
        <p:spPr>
          <a:xfrm>
            <a:off x="685800" y="330200"/>
            <a:ext cx="8255000" cy="425758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관찰된 현상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DCBF7D2-E9E2-C939-7CC9-264B58F47DE5}"/>
              </a:ext>
            </a:extLst>
          </p:cNvPr>
          <p:cNvSpPr txBox="1"/>
          <p:nvPr/>
        </p:nvSpPr>
        <p:spPr>
          <a:xfrm>
            <a:off x="698500" y="787400"/>
            <a:ext cx="96520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후보는 있었지만 실행 가능한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없었다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495D3EF-3B52-12F4-9A2F-05BAD5F6D7BE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936631E-5FB5-8074-F5FD-BFCC304BFD11}"/>
              </a:ext>
            </a:extLst>
          </p:cNvPr>
          <p:cNvSpPr/>
          <p:nvPr/>
        </p:nvSpPr>
        <p:spPr>
          <a:xfrm>
            <a:off x="736600" y="1625600"/>
            <a:ext cx="787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900" b="1">
                <a:solidFill>
                  <a:srgbClr val="16A34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정상</a:t>
            </a:r>
          </a:p>
        </p:txBody>
      </p:sp>
      <p:sp>
        <p:nvSpPr>
          <p:cNvPr id="7" name="Column Heading">
            <a:extLst>
              <a:ext uri="{FF2B5EF4-FFF2-40B4-BE49-F238E27FC236}">
                <a16:creationId xmlns:a16="http://schemas.microsoft.com/office/drawing/2014/main" id="{4E320B78-3E66-F26A-1E22-9CA0BFA55CD9}"/>
              </a:ext>
            </a:extLst>
          </p:cNvPr>
          <p:cNvSpPr txBox="1"/>
          <p:nvPr/>
        </p:nvSpPr>
        <p:spPr>
          <a:xfrm>
            <a:off x="736600" y="2159000"/>
            <a:ext cx="2921000" cy="302647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분석</a:t>
            </a:r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 생성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2AF6CDF-CBB9-A055-80F6-0A503A1EC572}"/>
              </a:ext>
            </a:extLst>
          </p:cNvPr>
          <p:cNvCxnSpPr/>
          <p:nvPr/>
        </p:nvCxnSpPr>
        <p:spPr>
          <a:xfrm>
            <a:off x="736600" y="2603500"/>
            <a:ext cx="29718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lumn Body">
            <a:extLst>
              <a:ext uri="{FF2B5EF4-FFF2-40B4-BE49-F238E27FC236}">
                <a16:creationId xmlns:a16="http://schemas.microsoft.com/office/drawing/2014/main" id="{8AD5CC70-FB88-60E5-A92D-9FDB0660B0D5}"/>
              </a:ext>
            </a:extLst>
          </p:cNvPr>
          <p:cNvSpPr/>
          <p:nvPr/>
        </p:nvSpPr>
        <p:spPr>
          <a:xfrm>
            <a:off x="736600" y="2870200"/>
            <a:ext cx="29718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summary: 2026-04-20 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총 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 미복용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repeated_missed_slots: 3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시간대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suggested_policy_count: 3</a:t>
            </a:r>
            <a:endParaRPr lang="ko-KR" altLang="en-US" sz="1000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2620CE4-CE4A-BD74-D9A3-AF2B518920A3}"/>
              </a:ext>
            </a:extLst>
          </p:cNvPr>
          <p:cNvSpPr/>
          <p:nvPr/>
        </p:nvSpPr>
        <p:spPr>
          <a:xfrm>
            <a:off x="4241800" y="1625600"/>
            <a:ext cx="787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900" b="1">
                <a:solidFill>
                  <a:srgbClr val="DC262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</a:t>
            </a:r>
          </a:p>
        </p:txBody>
      </p:sp>
      <p:sp>
        <p:nvSpPr>
          <p:cNvPr id="11" name="Column Heading">
            <a:extLst>
              <a:ext uri="{FF2B5EF4-FFF2-40B4-BE49-F238E27FC236}">
                <a16:creationId xmlns:a16="http://schemas.microsoft.com/office/drawing/2014/main" id="{487ED6ED-DC15-1CDE-5360-0E5EEAF03242}"/>
              </a:ext>
            </a:extLst>
          </p:cNvPr>
          <p:cNvSpPr txBox="1"/>
          <p:nvPr/>
        </p:nvSpPr>
        <p:spPr>
          <a:xfrm>
            <a:off x="4241800" y="2159000"/>
            <a:ext cx="2921000" cy="302647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policy_planner </a:t>
            </a:r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0ABE44A-6FD4-9B65-2144-72D36158800A}"/>
              </a:ext>
            </a:extLst>
          </p:cNvPr>
          <p:cNvCxnSpPr/>
          <p:nvPr/>
        </p:nvCxnSpPr>
        <p:spPr>
          <a:xfrm>
            <a:off x="4241800" y="2603500"/>
            <a:ext cx="29718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lumn Body">
            <a:extLst>
              <a:ext uri="{FF2B5EF4-FFF2-40B4-BE49-F238E27FC236}">
                <a16:creationId xmlns:a16="http://schemas.microsoft.com/office/drawing/2014/main" id="{7A4EF8D4-26A9-59CF-76A6-0D4C404A6B7D}"/>
              </a:ext>
            </a:extLst>
          </p:cNvPr>
          <p:cNvSpPr/>
          <p:nvPr/>
        </p:nvSpPr>
        <p:spPr>
          <a:xfrm>
            <a:off x="4241800" y="2870200"/>
            <a:ext cx="29718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tool_calls: []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needs_clarification: 3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advice: 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의료진 상담 우선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84F52FB-9F93-79C8-279B-39A1799AA236}"/>
              </a:ext>
            </a:extLst>
          </p:cNvPr>
          <p:cNvSpPr/>
          <p:nvPr/>
        </p:nvSpPr>
        <p:spPr>
          <a:xfrm>
            <a:off x="7747000" y="1625600"/>
            <a:ext cx="787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900" b="1">
                <a:solidFill>
                  <a:srgbClr val="D9770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</a:t>
            </a:r>
          </a:p>
        </p:txBody>
      </p:sp>
      <p:sp>
        <p:nvSpPr>
          <p:cNvPr id="15" name="Column Heading">
            <a:extLst>
              <a:ext uri="{FF2B5EF4-FFF2-40B4-BE49-F238E27FC236}">
                <a16:creationId xmlns:a16="http://schemas.microsoft.com/office/drawing/2014/main" id="{9ED0C4E9-535B-E761-EABD-763C4CC56EB1}"/>
              </a:ext>
            </a:extLst>
          </p:cNvPr>
          <p:cNvSpPr txBox="1"/>
          <p:nvPr/>
        </p:nvSpPr>
        <p:spPr>
          <a:xfrm>
            <a:off x="7747000" y="2159000"/>
            <a:ext cx="2921000" cy="302647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서버 결과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498169D-FD10-5F23-41D2-B2BEB0C96BFF}"/>
              </a:ext>
            </a:extLst>
          </p:cNvPr>
          <p:cNvCxnSpPr/>
          <p:nvPr/>
        </p:nvCxnSpPr>
        <p:spPr>
          <a:xfrm>
            <a:off x="7747000" y="2603500"/>
            <a:ext cx="29718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lumn Body">
            <a:extLst>
              <a:ext uri="{FF2B5EF4-FFF2-40B4-BE49-F238E27FC236}">
                <a16:creationId xmlns:a16="http://schemas.microsoft.com/office/drawing/2014/main" id="{89C03BB7-AF2C-1278-1F63-BF9FA4DC0747}"/>
              </a:ext>
            </a:extLst>
          </p:cNvPr>
          <p:cNvSpPr/>
          <p:nvPr/>
        </p:nvSpPr>
        <p:spPr>
          <a:xfrm>
            <a:off x="7747000" y="2870200"/>
            <a:ext cx="29718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daily_pattern_policy_tool_call_missing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tools_executed: false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decision: pattern_policy_recommendation</a:t>
            </a:r>
            <a:endParaRPr lang="ko-KR" altLang="en-US" sz="1000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Finding">
            <a:extLst>
              <a:ext uri="{FF2B5EF4-FFF2-40B4-BE49-F238E27FC236}">
                <a16:creationId xmlns:a16="http://schemas.microsoft.com/office/drawing/2014/main" id="{922DC194-257F-4561-1343-836B810CAC39}"/>
              </a:ext>
            </a:extLst>
          </p:cNvPr>
          <p:cNvSpPr txBox="1"/>
          <p:nvPr/>
        </p:nvSpPr>
        <p:spPr>
          <a:xfrm>
            <a:off x="1016000" y="5334000"/>
            <a:ext cx="10160000" cy="318036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실패 지점은 패턴 분석이 아니라 정책 후보를 알림 후보로 넘기는 마지막 판단 단계다</a:t>
            </a:r>
            <a:r>
              <a:rPr lang="en-US" altLang="ko-KR" sz="14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Footer">
            <a:extLst>
              <a:ext uri="{FF2B5EF4-FFF2-40B4-BE49-F238E27FC236}">
                <a16:creationId xmlns:a16="http://schemas.microsoft.com/office/drawing/2014/main" id="{D50FCDCB-A915-9A5C-E626-BF2126EA265B}"/>
              </a:ext>
            </a:extLst>
          </p:cNvPr>
          <p:cNvSpPr txBox="1"/>
          <p:nvPr/>
        </p:nvSpPr>
        <p:spPr>
          <a:xfrm>
            <a:off x="495300" y="6540500"/>
            <a:ext cx="8763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비개발 관점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데이터는 준비됐지만 제품 액션으로 전환되지 않은 상태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1B0D2400-9983-C264-D2EC-3224B5341F3E}"/>
              </a:ext>
            </a:extLst>
          </p:cNvPr>
          <p:cNvSpPr txBox="1"/>
          <p:nvPr/>
        </p:nvSpPr>
        <p:spPr>
          <a:xfrm>
            <a:off x="11074400" y="6540500"/>
            <a:ext cx="635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065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2FA9031-F3D7-64C5-98A2-4FDDEE8F295C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1980CE5-CBE2-CFBD-D800-42EA32156F25}"/>
              </a:ext>
            </a:extLst>
          </p:cNvPr>
          <p:cNvSpPr txBox="1"/>
          <p:nvPr/>
        </p:nvSpPr>
        <p:spPr>
          <a:xfrm>
            <a:off x="685800" y="330200"/>
            <a:ext cx="8255000" cy="425758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처리 흐름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1491718D-10F0-84F3-4D88-F5CA9FB70054}"/>
              </a:ext>
            </a:extLst>
          </p:cNvPr>
          <p:cNvSpPr txBox="1"/>
          <p:nvPr/>
        </p:nvSpPr>
        <p:spPr>
          <a:xfrm>
            <a:off x="698500" y="787400"/>
            <a:ext cx="96520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suggested_policies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만으로는 알림이 만들어지지 않는다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903E1B9-1872-7D80-D2D7-5B882E228D8C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No">
            <a:extLst>
              <a:ext uri="{FF2B5EF4-FFF2-40B4-BE49-F238E27FC236}">
                <a16:creationId xmlns:a16="http://schemas.microsoft.com/office/drawing/2014/main" id="{50498E78-6D75-9777-B34E-D7E417EEE460}"/>
              </a:ext>
            </a:extLst>
          </p:cNvPr>
          <p:cNvSpPr txBox="1"/>
          <p:nvPr/>
        </p:nvSpPr>
        <p:spPr>
          <a:xfrm>
            <a:off x="660400" y="1676400"/>
            <a:ext cx="5334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1000" b="1">
                <a:solidFill>
                  <a:srgbClr val="2563E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01</a:t>
            </a:r>
            <a:endParaRPr lang="ko-KR" altLang="en-US" sz="1000" b="1">
              <a:solidFill>
                <a:srgbClr val="2563E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tep">
            <a:extLst>
              <a:ext uri="{FF2B5EF4-FFF2-40B4-BE49-F238E27FC236}">
                <a16:creationId xmlns:a16="http://schemas.microsoft.com/office/drawing/2014/main" id="{AAD26AC8-CCBD-F3C6-3E04-171A1640391C}"/>
              </a:ext>
            </a:extLst>
          </p:cNvPr>
          <p:cNvSpPr/>
          <p:nvPr/>
        </p:nvSpPr>
        <p:spPr>
          <a:xfrm>
            <a:off x="660400" y="2006600"/>
            <a:ext cx="1739900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패턴 분석</a:t>
            </a:r>
          </a:p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pattern_analyzer</a:t>
            </a:r>
            <a:endParaRPr lang="ko-KR" altLang="en-US" sz="10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9976951-7CD1-106C-0CEC-53D751F2F30F}"/>
              </a:ext>
            </a:extLst>
          </p:cNvPr>
          <p:cNvCxnSpPr/>
          <p:nvPr/>
        </p:nvCxnSpPr>
        <p:spPr>
          <a:xfrm>
            <a:off x="2400300" y="2552700"/>
            <a:ext cx="3937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ep No">
            <a:extLst>
              <a:ext uri="{FF2B5EF4-FFF2-40B4-BE49-F238E27FC236}">
                <a16:creationId xmlns:a16="http://schemas.microsoft.com/office/drawing/2014/main" id="{9079D382-099B-6920-E66C-C84D1BE55DC6}"/>
              </a:ext>
            </a:extLst>
          </p:cNvPr>
          <p:cNvSpPr txBox="1"/>
          <p:nvPr/>
        </p:nvSpPr>
        <p:spPr>
          <a:xfrm>
            <a:off x="2895600" y="1676400"/>
            <a:ext cx="5334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1000" b="1">
                <a:solidFill>
                  <a:srgbClr val="2563E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02</a:t>
            </a:r>
            <a:endParaRPr lang="ko-KR" altLang="en-US" sz="1000" b="1">
              <a:solidFill>
                <a:srgbClr val="2563E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Step">
            <a:extLst>
              <a:ext uri="{FF2B5EF4-FFF2-40B4-BE49-F238E27FC236}">
                <a16:creationId xmlns:a16="http://schemas.microsoft.com/office/drawing/2014/main" id="{20C8751A-8BE8-C36A-9223-69BB7C397063}"/>
              </a:ext>
            </a:extLst>
          </p:cNvPr>
          <p:cNvSpPr/>
          <p:nvPr/>
        </p:nvSpPr>
        <p:spPr>
          <a:xfrm>
            <a:off x="2895600" y="2006600"/>
            <a:ext cx="1739900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 생성</a:t>
            </a:r>
          </a:p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suggested_policies</a:t>
            </a:r>
            <a:endParaRPr lang="ko-KR" altLang="en-US" sz="10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A845CDC-740A-07F5-0BBE-3CFE83E5B48D}"/>
              </a:ext>
            </a:extLst>
          </p:cNvPr>
          <p:cNvCxnSpPr/>
          <p:nvPr/>
        </p:nvCxnSpPr>
        <p:spPr>
          <a:xfrm>
            <a:off x="4635500" y="2552700"/>
            <a:ext cx="3937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ep No">
            <a:extLst>
              <a:ext uri="{FF2B5EF4-FFF2-40B4-BE49-F238E27FC236}">
                <a16:creationId xmlns:a16="http://schemas.microsoft.com/office/drawing/2014/main" id="{62F6805F-8DD4-11EF-AB78-70C44952FD40}"/>
              </a:ext>
            </a:extLst>
          </p:cNvPr>
          <p:cNvSpPr txBox="1"/>
          <p:nvPr/>
        </p:nvSpPr>
        <p:spPr>
          <a:xfrm>
            <a:off x="5130800" y="1676400"/>
            <a:ext cx="5334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1000" b="1">
                <a:solidFill>
                  <a:srgbClr val="2563E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</a:t>
            </a:r>
            <a:endParaRPr lang="ko-KR" altLang="en-US" sz="1000" b="1">
              <a:solidFill>
                <a:srgbClr val="2563E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Step">
            <a:extLst>
              <a:ext uri="{FF2B5EF4-FFF2-40B4-BE49-F238E27FC236}">
                <a16:creationId xmlns:a16="http://schemas.microsoft.com/office/drawing/2014/main" id="{33066C8B-0D93-5787-173B-75FD43768CF9}"/>
              </a:ext>
            </a:extLst>
          </p:cNvPr>
          <p:cNvSpPr/>
          <p:nvPr/>
        </p:nvSpPr>
        <p:spPr>
          <a:xfrm>
            <a:off x="5130800" y="2006600"/>
            <a:ext cx="1739900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판단</a:t>
            </a:r>
          </a:p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policy_planner</a:t>
            </a:r>
            <a:endParaRPr lang="ko-KR" altLang="en-US" sz="10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000E03B-8B6D-6A72-3513-F3971179F6A5}"/>
              </a:ext>
            </a:extLst>
          </p:cNvPr>
          <p:cNvCxnSpPr/>
          <p:nvPr/>
        </p:nvCxnSpPr>
        <p:spPr>
          <a:xfrm>
            <a:off x="6870700" y="2552700"/>
            <a:ext cx="3937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ep No">
            <a:extLst>
              <a:ext uri="{FF2B5EF4-FFF2-40B4-BE49-F238E27FC236}">
                <a16:creationId xmlns:a16="http://schemas.microsoft.com/office/drawing/2014/main" id="{870458CD-55E2-F449-93D2-A3BE601A7B50}"/>
              </a:ext>
            </a:extLst>
          </p:cNvPr>
          <p:cNvSpPr txBox="1"/>
          <p:nvPr/>
        </p:nvSpPr>
        <p:spPr>
          <a:xfrm>
            <a:off x="7366000" y="1676400"/>
            <a:ext cx="5334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1000" b="1">
                <a:solidFill>
                  <a:srgbClr val="DC262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04</a:t>
            </a:r>
            <a:endParaRPr lang="ko-KR" altLang="en-US" sz="1000" b="1">
              <a:solidFill>
                <a:srgbClr val="DC262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tep">
            <a:extLst>
              <a:ext uri="{FF2B5EF4-FFF2-40B4-BE49-F238E27FC236}">
                <a16:creationId xmlns:a16="http://schemas.microsoft.com/office/drawing/2014/main" id="{BF5DBB2C-C7AA-BBCC-DFCF-EFA30911E3C2}"/>
              </a:ext>
            </a:extLst>
          </p:cNvPr>
          <p:cNvSpPr/>
          <p:nvPr/>
        </p:nvSpPr>
        <p:spPr>
          <a:xfrm>
            <a:off x="7366000" y="2006600"/>
            <a:ext cx="1739900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추출</a:t>
            </a:r>
          </a:p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propose_notification_policy</a:t>
            </a:r>
            <a:endParaRPr lang="ko-KR" altLang="en-US" sz="10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6803628-D157-2C61-F1FB-708B3CB2B116}"/>
              </a:ext>
            </a:extLst>
          </p:cNvPr>
          <p:cNvCxnSpPr/>
          <p:nvPr/>
        </p:nvCxnSpPr>
        <p:spPr>
          <a:xfrm>
            <a:off x="9105900" y="2552700"/>
            <a:ext cx="3937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ep No">
            <a:extLst>
              <a:ext uri="{FF2B5EF4-FFF2-40B4-BE49-F238E27FC236}">
                <a16:creationId xmlns:a16="http://schemas.microsoft.com/office/drawing/2014/main" id="{2941F971-D129-E60A-AAAC-C66EC97A0543}"/>
              </a:ext>
            </a:extLst>
          </p:cNvPr>
          <p:cNvSpPr txBox="1"/>
          <p:nvPr/>
        </p:nvSpPr>
        <p:spPr>
          <a:xfrm>
            <a:off x="9601200" y="1676400"/>
            <a:ext cx="5334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1000" b="1">
                <a:solidFill>
                  <a:srgbClr val="2563E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05</a:t>
            </a:r>
            <a:endParaRPr lang="ko-KR" altLang="en-US" sz="1000" b="1">
              <a:solidFill>
                <a:srgbClr val="2563E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Step">
            <a:extLst>
              <a:ext uri="{FF2B5EF4-FFF2-40B4-BE49-F238E27FC236}">
                <a16:creationId xmlns:a16="http://schemas.microsoft.com/office/drawing/2014/main" id="{2C0E7532-C610-9E18-575E-A176210436C6}"/>
              </a:ext>
            </a:extLst>
          </p:cNvPr>
          <p:cNvSpPr/>
          <p:nvPr/>
        </p:nvSpPr>
        <p:spPr>
          <a:xfrm>
            <a:off x="9601200" y="2006600"/>
            <a:ext cx="1739900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확인 알림</a:t>
            </a:r>
          </a:p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환자 확인용 후보</a:t>
            </a:r>
          </a:p>
        </p:txBody>
      </p:sp>
      <p:sp>
        <p:nvSpPr>
          <p:cNvPr id="20" name="Break">
            <a:extLst>
              <a:ext uri="{FF2B5EF4-FFF2-40B4-BE49-F238E27FC236}">
                <a16:creationId xmlns:a16="http://schemas.microsoft.com/office/drawing/2014/main" id="{99E586A2-60DE-5213-2C58-DEBB84990E81}"/>
              </a:ext>
            </a:extLst>
          </p:cNvPr>
          <p:cNvSpPr/>
          <p:nvPr/>
        </p:nvSpPr>
        <p:spPr>
          <a:xfrm>
            <a:off x="6985000" y="3810000"/>
            <a:ext cx="2984500" cy="8890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단절점</a:t>
            </a:r>
          </a:p>
          <a:p>
            <a:pPr algn="ctr"/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비어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번 단계로 넘어가지 못함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987AC45-25D5-889F-5813-3EC2BEAFC47C}"/>
              </a:ext>
            </a:extLst>
          </p:cNvPr>
          <p:cNvCxnSpPr/>
          <p:nvPr/>
        </p:nvCxnSpPr>
        <p:spPr>
          <a:xfrm>
            <a:off x="7747000" y="3098800"/>
            <a:ext cx="317500" cy="711200"/>
          </a:xfrm>
          <a:prstGeom prst="line">
            <a:avLst/>
          </a:prstGeom>
          <a:ln w="15875">
            <a:solidFill>
              <a:srgbClr val="DC262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dition">
            <a:extLst>
              <a:ext uri="{FF2B5EF4-FFF2-40B4-BE49-F238E27FC236}">
                <a16:creationId xmlns:a16="http://schemas.microsoft.com/office/drawing/2014/main" id="{81167E9C-0761-0206-A0E4-4EFB3FF8AC7F}"/>
              </a:ext>
            </a:extLst>
          </p:cNvPr>
          <p:cNvSpPr/>
          <p:nvPr/>
        </p:nvSpPr>
        <p:spPr>
          <a:xfrm>
            <a:off x="1041400" y="5207000"/>
            <a:ext cx="101092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확인 알림은 </a:t>
            </a:r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policy_planner</a:t>
            </a:r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</a:t>
            </a:r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propose_notification_policy Tool call</a:t>
            </a:r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반환해야만 생성된다</a:t>
            </a:r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771E5AC5-7CD0-7BE4-6E2F-DD8406B33451}"/>
              </a:ext>
            </a:extLst>
          </p:cNvPr>
          <p:cNvSpPr txBox="1"/>
          <p:nvPr/>
        </p:nvSpPr>
        <p:spPr>
          <a:xfrm>
            <a:off x="495300" y="6540500"/>
            <a:ext cx="8763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해결 초점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 생성 로직보다 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policy_planner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의사결정 기준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DC303C5E-4E77-0AFA-2CBF-9ED2B2726C59}"/>
              </a:ext>
            </a:extLst>
          </p:cNvPr>
          <p:cNvSpPr txBox="1"/>
          <p:nvPr/>
        </p:nvSpPr>
        <p:spPr>
          <a:xfrm>
            <a:off x="11074400" y="6540500"/>
            <a:ext cx="635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3303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99AB153-664C-46C1-97C8-37A4FC0335A0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7A7ED1-60AC-ADA1-AC84-F76C957AC80A}"/>
              </a:ext>
            </a:extLst>
          </p:cNvPr>
          <p:cNvSpPr txBox="1"/>
          <p:nvPr/>
        </p:nvSpPr>
        <p:spPr>
          <a:xfrm>
            <a:off x="685800" y="330200"/>
            <a:ext cx="8255000" cy="425758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원인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CEE312D-3CAC-38F3-5FF3-F974498924C8}"/>
              </a:ext>
            </a:extLst>
          </p:cNvPr>
          <p:cNvSpPr txBox="1"/>
          <p:nvPr/>
        </p:nvSpPr>
        <p:spPr>
          <a:xfrm>
            <a:off x="698500" y="787400"/>
            <a:ext cx="96520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프롬프트 기준이 두 판단을 동시에 허용했다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A5AB786-BEFE-3796-737E-EC9DB302383D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mpt A">
            <a:extLst>
              <a:ext uri="{FF2B5EF4-FFF2-40B4-BE49-F238E27FC236}">
                <a16:creationId xmlns:a16="http://schemas.microsoft.com/office/drawing/2014/main" id="{84AEC1E0-3EA8-1649-3B68-6D54602AD29C}"/>
              </a:ext>
            </a:extLst>
          </p:cNvPr>
          <p:cNvSpPr/>
          <p:nvPr/>
        </p:nvSpPr>
        <p:spPr>
          <a:xfrm>
            <a:off x="1041400" y="1803400"/>
            <a:ext cx="4292600" cy="106680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지침 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</a:t>
            </a:r>
          </a:p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변경 후보가 필요하고 도구가 있으면 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tool_calls 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반환</a:t>
            </a:r>
          </a:p>
        </p:txBody>
      </p:sp>
      <p:sp>
        <p:nvSpPr>
          <p:cNvPr id="7" name="Prompt B">
            <a:extLst>
              <a:ext uri="{FF2B5EF4-FFF2-40B4-BE49-F238E27FC236}">
                <a16:creationId xmlns:a16="http://schemas.microsoft.com/office/drawing/2014/main" id="{C784774D-EBFA-0897-7066-DAD48A364A1C}"/>
              </a:ext>
            </a:extLst>
          </p:cNvPr>
          <p:cNvSpPr/>
          <p:nvPr/>
        </p:nvSpPr>
        <p:spPr>
          <a:xfrm>
            <a:off x="6858000" y="1803400"/>
            <a:ext cx="4292600" cy="106680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지침 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</a:t>
            </a:r>
          </a:p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적용이 필요 없거나 모호하면 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clarification/advice 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반환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1F5B3D3-A268-93D2-A85A-685AC4119365}"/>
              </a:ext>
            </a:extLst>
          </p:cNvPr>
          <p:cNvCxnSpPr/>
          <p:nvPr/>
        </p:nvCxnSpPr>
        <p:spPr>
          <a:xfrm>
            <a:off x="3175000" y="2870200"/>
            <a:ext cx="2032000" cy="66040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EB8B7CD-240E-29F1-0A5D-20BC64B94218}"/>
              </a:ext>
            </a:extLst>
          </p:cNvPr>
          <p:cNvCxnSpPr/>
          <p:nvPr/>
        </p:nvCxnSpPr>
        <p:spPr>
          <a:xfrm flipH="1">
            <a:off x="6985000" y="2870200"/>
            <a:ext cx="2032000" cy="66040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ecision">
            <a:extLst>
              <a:ext uri="{FF2B5EF4-FFF2-40B4-BE49-F238E27FC236}">
                <a16:creationId xmlns:a16="http://schemas.microsoft.com/office/drawing/2014/main" id="{3B3808AB-4205-823E-7361-E0450C75A702}"/>
              </a:ext>
            </a:extLst>
          </p:cNvPr>
          <p:cNvSpPr/>
          <p:nvPr/>
        </p:nvSpPr>
        <p:spPr>
          <a:xfrm>
            <a:off x="4089400" y="3530600"/>
            <a:ext cx="4013200" cy="11684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판단</a:t>
            </a:r>
          </a:p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메스꺼움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가능성을 더 크게 보고 의료진 상담 우선으로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생략</a:t>
            </a:r>
          </a:p>
        </p:txBody>
      </p:sp>
      <p:sp>
        <p:nvSpPr>
          <p:cNvPr id="11" name="Root Cause">
            <a:extLst>
              <a:ext uri="{FF2B5EF4-FFF2-40B4-BE49-F238E27FC236}">
                <a16:creationId xmlns:a16="http://schemas.microsoft.com/office/drawing/2014/main" id="{11A1BCDC-FC3F-4A52-9764-C21AD00DA7D3}"/>
              </a:ext>
            </a:extLst>
          </p:cNvPr>
          <p:cNvSpPr txBox="1"/>
          <p:nvPr/>
        </p:nvSpPr>
        <p:spPr>
          <a:xfrm>
            <a:off x="1092200" y="5334000"/>
            <a:ext cx="10033000" cy="302647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근본 원인</a:t>
            </a:r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미복용이 명확할 때 후보 알림을 만들어야 한다는 제품 기준이 프롬프트에 고정되어 있지 않았다</a:t>
            </a:r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DFD0BA4D-C5CD-7D8A-ECD6-CEF2A7C22755}"/>
              </a:ext>
            </a:extLst>
          </p:cNvPr>
          <p:cNvSpPr txBox="1"/>
          <p:nvPr/>
        </p:nvSpPr>
        <p:spPr>
          <a:xfrm>
            <a:off x="495300" y="6540500"/>
            <a:ext cx="8763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단순 실행 오류보다 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LLM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의사결정 기준 불일치에 가까운 이슈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2D35EF15-349E-335B-94E2-1DC17F564D25}"/>
              </a:ext>
            </a:extLst>
          </p:cNvPr>
          <p:cNvSpPr txBox="1"/>
          <p:nvPr/>
        </p:nvSpPr>
        <p:spPr>
          <a:xfrm>
            <a:off x="11074400" y="6540500"/>
            <a:ext cx="635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909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B99CAD1-7C39-D1C4-E30D-2C4EC98E2AB9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B70D0E0-5DB1-9C28-788F-6B724022DE90}"/>
              </a:ext>
            </a:extLst>
          </p:cNvPr>
          <p:cNvSpPr txBox="1"/>
          <p:nvPr/>
        </p:nvSpPr>
        <p:spPr>
          <a:xfrm>
            <a:off x="685800" y="330200"/>
            <a:ext cx="8255000" cy="425758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해결 방향 비교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BDA60761-43C8-DBC1-B7C4-F5AD137152D2}"/>
              </a:ext>
            </a:extLst>
          </p:cNvPr>
          <p:cNvSpPr txBox="1"/>
          <p:nvPr/>
        </p:nvSpPr>
        <p:spPr>
          <a:xfrm>
            <a:off x="698500" y="787400"/>
            <a:ext cx="96520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권장안은 후보 생성과 의료진 확인 안내를 함께 제공하는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2DFDE58-1057-2F34-956C-D83723255BCA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E05273-7647-ED51-7770-509A4747EE6B}"/>
              </a:ext>
            </a:extLst>
          </p:cNvPr>
          <p:cNvSpPr/>
          <p:nvPr/>
        </p:nvSpPr>
        <p:spPr>
          <a:xfrm>
            <a:off x="736600" y="1727200"/>
            <a:ext cx="7366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D9770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</a:t>
            </a:r>
            <a:r>
              <a:rPr lang="ko-KR" altLang="en-US" sz="900" b="1">
                <a:solidFill>
                  <a:srgbClr val="D9770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</a:t>
            </a:r>
          </a:p>
        </p:txBody>
      </p:sp>
      <p:sp>
        <p:nvSpPr>
          <p:cNvPr id="7" name="Option">
            <a:extLst>
              <a:ext uri="{FF2B5EF4-FFF2-40B4-BE49-F238E27FC236}">
                <a16:creationId xmlns:a16="http://schemas.microsoft.com/office/drawing/2014/main" id="{44B94AA9-BBAC-75A6-4FDF-AD33747D643C}"/>
              </a:ext>
            </a:extLst>
          </p:cNvPr>
          <p:cNvSpPr/>
          <p:nvPr/>
        </p:nvSpPr>
        <p:spPr>
          <a:xfrm>
            <a:off x="736600" y="2209800"/>
            <a:ext cx="2997200" cy="23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가능성 시 보류</a:t>
            </a:r>
          </a:p>
          <a:p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 리스크 상황에서 복약 압박 감소</a:t>
            </a:r>
          </a:p>
          <a:p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명확한 미복용 패턴에도 자동 흐름 중단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9EFA683-8579-9D74-B447-256B8663EC18}"/>
              </a:ext>
            </a:extLst>
          </p:cNvPr>
          <p:cNvSpPr/>
          <p:nvPr/>
        </p:nvSpPr>
        <p:spPr>
          <a:xfrm>
            <a:off x="4394200" y="1498600"/>
            <a:ext cx="7366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16A34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</a:t>
            </a:r>
            <a:r>
              <a:rPr lang="ko-KR" altLang="en-US" sz="900" b="1">
                <a:solidFill>
                  <a:srgbClr val="16A34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</a:t>
            </a:r>
          </a:p>
        </p:txBody>
      </p:sp>
      <p:sp>
        <p:nvSpPr>
          <p:cNvPr id="9" name="Option">
            <a:extLst>
              <a:ext uri="{FF2B5EF4-FFF2-40B4-BE49-F238E27FC236}">
                <a16:creationId xmlns:a16="http://schemas.microsoft.com/office/drawing/2014/main" id="{4B68F2A7-B638-A988-AFD4-C77D0A5B48E3}"/>
              </a:ext>
            </a:extLst>
          </p:cNvPr>
          <p:cNvSpPr/>
          <p:nvPr/>
        </p:nvSpPr>
        <p:spPr>
          <a:xfrm>
            <a:off x="4394200" y="1981200"/>
            <a:ext cx="2997200" cy="2717800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 생성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의료진 확인 안내</a:t>
            </a:r>
          </a:p>
          <a:p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미복용이 명확하면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반환</a:t>
            </a:r>
          </a:p>
          <a:p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의료진 확인 필요성과 알림 변경 한계를 메시지에 병기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82473E8-8D2D-9D63-D526-611863ADB778}"/>
              </a:ext>
            </a:extLst>
          </p:cNvPr>
          <p:cNvSpPr/>
          <p:nvPr/>
        </p:nvSpPr>
        <p:spPr>
          <a:xfrm>
            <a:off x="8051800" y="1727200"/>
            <a:ext cx="7366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900" b="1">
                <a:solidFill>
                  <a:srgbClr val="7C3AE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</a:t>
            </a:r>
            <a:r>
              <a:rPr lang="ko-KR" altLang="en-US" sz="900" b="1">
                <a:solidFill>
                  <a:srgbClr val="7C3AE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</a:t>
            </a:r>
          </a:p>
        </p:txBody>
      </p:sp>
      <p:sp>
        <p:nvSpPr>
          <p:cNvPr id="11" name="Option">
            <a:extLst>
              <a:ext uri="{FF2B5EF4-FFF2-40B4-BE49-F238E27FC236}">
                <a16:creationId xmlns:a16="http://schemas.microsoft.com/office/drawing/2014/main" id="{9F670C1E-E42D-4B83-74E1-66906E1DF513}"/>
              </a:ext>
            </a:extLst>
          </p:cNvPr>
          <p:cNvSpPr/>
          <p:nvPr/>
        </p:nvSpPr>
        <p:spPr>
          <a:xfrm>
            <a:off x="8051800" y="2209800"/>
            <a:ext cx="2997200" cy="23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경로와 정책 경로 분리</a:t>
            </a:r>
          </a:p>
          <a:p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 안내와 정책 후보가 명확히 분리</a:t>
            </a:r>
          </a:p>
          <a:p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UI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대화 상태 관리 복잡도 증가</a:t>
            </a:r>
          </a:p>
        </p:txBody>
      </p:sp>
      <p:sp>
        <p:nvSpPr>
          <p:cNvPr id="12" name="Recommendation">
            <a:extLst>
              <a:ext uri="{FF2B5EF4-FFF2-40B4-BE49-F238E27FC236}">
                <a16:creationId xmlns:a16="http://schemas.microsoft.com/office/drawing/2014/main" id="{A8FDC782-0D97-DF17-73C1-E0A46BAE6551}"/>
              </a:ext>
            </a:extLst>
          </p:cNvPr>
          <p:cNvSpPr/>
          <p:nvPr/>
        </p:nvSpPr>
        <p:spPr>
          <a:xfrm>
            <a:off x="1041400" y="5359400"/>
            <a:ext cx="10109200" cy="5334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안은 기존 설계인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변경은 즉시 적용이 아니라 환자 확인 후보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라는 흐름과 가장 잘 맞는다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3CB22AD1-8709-1EA9-A99F-CC305CEFF6C6}"/>
              </a:ext>
            </a:extLst>
          </p:cNvPr>
          <p:cNvSpPr txBox="1"/>
          <p:nvPr/>
        </p:nvSpPr>
        <p:spPr>
          <a:xfrm>
            <a:off x="495300" y="6540500"/>
            <a:ext cx="8763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제품 기준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안전 안내는 남기되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명확한 패턴 기반 후보 생성은 끊지 않는다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9F576589-0285-071C-8C0C-C6021C7E74A3}"/>
              </a:ext>
            </a:extLst>
          </p:cNvPr>
          <p:cNvSpPr txBox="1"/>
          <p:nvPr/>
        </p:nvSpPr>
        <p:spPr>
          <a:xfrm>
            <a:off x="11074400" y="6540500"/>
            <a:ext cx="635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21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2B9EFE8-462C-C562-55FA-77A1B795C2C9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C8426B9-9EB1-3CA8-FCEE-E1FDDFF2B5BD}"/>
              </a:ext>
            </a:extLst>
          </p:cNvPr>
          <p:cNvSpPr txBox="1"/>
          <p:nvPr/>
        </p:nvSpPr>
        <p:spPr>
          <a:xfrm>
            <a:off x="685800" y="330200"/>
            <a:ext cx="8255000" cy="425758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적용 내용과 검증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5F2E0B9-0B71-8410-939A-62359A79C6F9}"/>
              </a:ext>
            </a:extLst>
          </p:cNvPr>
          <p:cNvSpPr txBox="1"/>
          <p:nvPr/>
        </p:nvSpPr>
        <p:spPr>
          <a:xfrm>
            <a:off x="698500" y="787400"/>
            <a:ext cx="9652000" cy="256480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policy_planner_v13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 기준을 명시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49309D6-48D6-576B-8427-ED5DE856C9E4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Applied Heading">
            <a:extLst>
              <a:ext uri="{FF2B5EF4-FFF2-40B4-BE49-F238E27FC236}">
                <a16:creationId xmlns:a16="http://schemas.microsoft.com/office/drawing/2014/main" id="{537CC725-1C6A-C141-A306-85D235075A66}"/>
              </a:ext>
            </a:extLst>
          </p:cNvPr>
          <p:cNvSpPr txBox="1"/>
          <p:nvPr/>
        </p:nvSpPr>
        <p:spPr>
          <a:xfrm>
            <a:off x="787400" y="1625600"/>
            <a:ext cx="4572000" cy="318036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4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적용된 기준</a:t>
            </a:r>
          </a:p>
        </p:txBody>
      </p:sp>
      <p:sp>
        <p:nvSpPr>
          <p:cNvPr id="7" name="Validation Heading">
            <a:extLst>
              <a:ext uri="{FF2B5EF4-FFF2-40B4-BE49-F238E27FC236}">
                <a16:creationId xmlns:a16="http://schemas.microsoft.com/office/drawing/2014/main" id="{B8F4B276-B9DC-AB19-8906-E27A2649C3B3}"/>
              </a:ext>
            </a:extLst>
          </p:cNvPr>
          <p:cNvSpPr txBox="1"/>
          <p:nvPr/>
        </p:nvSpPr>
        <p:spPr>
          <a:xfrm>
            <a:off x="6451600" y="1625600"/>
            <a:ext cx="4572000" cy="318036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14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검증 시나리오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88342D3-1250-B80E-E7C1-9E555EF32B3D}"/>
              </a:ext>
            </a:extLst>
          </p:cNvPr>
          <p:cNvCxnSpPr/>
          <p:nvPr/>
        </p:nvCxnSpPr>
        <p:spPr>
          <a:xfrm>
            <a:off x="787400" y="2082800"/>
            <a:ext cx="4699000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3EC9C57-8D23-5578-93DD-9C1EE5DA12DF}"/>
              </a:ext>
            </a:extLst>
          </p:cNvPr>
          <p:cNvCxnSpPr/>
          <p:nvPr/>
        </p:nvCxnSpPr>
        <p:spPr>
          <a:xfrm>
            <a:off x="6451600" y="2082800"/>
            <a:ext cx="4699000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pplied">
            <a:extLst>
              <a:ext uri="{FF2B5EF4-FFF2-40B4-BE49-F238E27FC236}">
                <a16:creationId xmlns:a16="http://schemas.microsoft.com/office/drawing/2014/main" id="{371998ED-C7F6-1B57-2BBA-4BAA17DDD30C}"/>
              </a:ext>
            </a:extLst>
          </p:cNvPr>
          <p:cNvSpPr/>
          <p:nvPr/>
        </p:nvSpPr>
        <p:spPr>
          <a:xfrm>
            <a:off x="787400" y="2463800"/>
            <a:ext cx="469900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suggested_policies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있으면 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반환</a:t>
            </a:r>
          </a:p>
          <a:p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의료진 상담 필요성이 있어도 생략하지 않음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즉시 적용이 아닌 환자 확인용 후보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message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reason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의료진 확인 필요성 병기</a:t>
            </a:r>
          </a:p>
          <a:p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생략 조건을 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boundary/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필수 인자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/slot 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모호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현행 유지로 제한</a:t>
            </a:r>
          </a:p>
        </p:txBody>
      </p:sp>
      <p:sp>
        <p:nvSpPr>
          <p:cNvPr id="11" name="Validation">
            <a:extLst>
              <a:ext uri="{FF2B5EF4-FFF2-40B4-BE49-F238E27FC236}">
                <a16:creationId xmlns:a16="http://schemas.microsoft.com/office/drawing/2014/main" id="{4C6DD2A5-60A6-5FE4-C559-14C9D7A9B9D4}"/>
              </a:ext>
            </a:extLst>
          </p:cNvPr>
          <p:cNvSpPr/>
          <p:nvPr/>
        </p:nvSpPr>
        <p:spPr>
          <a:xfrm>
            <a:off x="6451600" y="2463800"/>
            <a:ext cx="469900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 시간대 미복용 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맥락에서도 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3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생성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message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전체 패턴과 의료진 확인 필요성 포함</a:t>
            </a:r>
          </a:p>
          <a:p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boundary 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위반 시 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미생성</a:t>
            </a:r>
          </a:p>
          <a:p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정상 복약일은 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no change 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유지</a:t>
            </a:r>
          </a:p>
          <a:p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현행 유지 명시 시 </a:t>
            </a:r>
            <a:r>
              <a:rPr lang="en-US" altLang="ko-KR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</a:t>
            </a:r>
            <a:r>
              <a:rPr lang="ko-KR" altLang="en-US" sz="1000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미생성</a:t>
            </a:r>
          </a:p>
        </p:txBody>
      </p:sp>
      <p:sp>
        <p:nvSpPr>
          <p:cNvPr id="12" name="Outcome">
            <a:extLst>
              <a:ext uri="{FF2B5EF4-FFF2-40B4-BE49-F238E27FC236}">
                <a16:creationId xmlns:a16="http://schemas.microsoft.com/office/drawing/2014/main" id="{33F80B4A-D974-69A4-5886-F3AC05AD5FA5}"/>
              </a:ext>
            </a:extLst>
          </p:cNvPr>
          <p:cNvSpPr/>
          <p:nvPr/>
        </p:nvSpPr>
        <p:spPr>
          <a:xfrm>
            <a:off x="1041400" y="5359400"/>
            <a:ext cx="10109200" cy="5334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기대 결과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명확한 반복 미복용 패턴은 후보 알림으로 연결되고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의료적 주의는 메시지에서 함께 안내된다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453E7D91-C3EA-9C4D-485D-304C8D510982}"/>
              </a:ext>
            </a:extLst>
          </p:cNvPr>
          <p:cNvSpPr txBox="1"/>
          <p:nvPr/>
        </p:nvSpPr>
        <p:spPr>
          <a:xfrm>
            <a:off x="495300" y="6540500"/>
            <a:ext cx="8763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런타임 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API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변경 없이 프롬프트 기준과 검증 케이스로 제품 판단을 고정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D0FF7E7A-F3AC-F00E-ABFB-58846EA90244}"/>
              </a:ext>
            </a:extLst>
          </p:cNvPr>
          <p:cNvSpPr txBox="1"/>
          <p:nvPr/>
        </p:nvSpPr>
        <p:spPr>
          <a:xfrm>
            <a:off x="11074400" y="6540500"/>
            <a:ext cx="635000" cy="225703"/>
          </a:xfrm>
          <a:prstGeom prst="rect">
            <a:avLst/>
          </a:prstGeom>
          <a:solidFill>
            <a:srgbClr val="FFFFFF"/>
          </a:solidFill>
        </p:spPr>
        <p:txBody>
          <a:bodyPr vert="horz" lIns="76200" tIns="50800" rIns="76200" bIns="508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0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PresentationFormat>사용자 지정</PresentationFormat>
  <Paragraphs>113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sunghyeon park</dc:creator>
  <cp:lastModifiedBy>sunghyeon park</cp:lastModifiedBy>
  <cp:revision>1</cp:revision>
  <dcterms:created xsi:type="dcterms:W3CDTF">2026-07-29T12:57:18Z</dcterms:created>
  <dcterms:modified xsi:type="dcterms:W3CDTF">2026-07-29T12:57:18Z</dcterms:modified>
</cp:coreProperties>
</file>