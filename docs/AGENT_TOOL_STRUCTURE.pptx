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52144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50" b="1" dirty="0">
                <a:solidFill>
                  <a:srgbClr val="222222"/>
                </a:solidFill>
                <a:latin typeface="Malgun Gothic"/>
                <a:ea typeface="Malgun Gothic"/>
              </a:rPr>
              <a:t>Agent &amp; Tool Structure</a:t>
            </a:r>
            <a:br/>
            <a:r>
              <a:rPr lang="ko-KR" sz="1650" b="1" dirty="0">
                <a:solidFill>
                  <a:srgbClr val="222222"/>
                </a:solidFill>
                <a:latin typeface="Malgun Gothic"/>
                <a:ea typeface="Malgun Gothic"/>
              </a:rPr>
              <a:t>요청 종류별 Agent 라우팅과 Tool 호출 흐름</a:t>
            </a:r>
            <a:endParaRPr lang="ko-KR" sz="1650" dirty="0">
              <a:latin typeface="Malgun Gothic"/>
              <a:ea typeface="Malgun Gothic"/>
            </a:endParaRPr>
          </a:p>
        </p:txBody>
      </p:sp>
      <p:sp>
        <p:nvSpPr>
          <p:cNvPr id="3" name="Legend LLM Agent"/>
          <p:cNvSpPr/>
          <p:nvPr/>
        </p:nvSpPr>
        <p:spPr>
          <a:xfrm>
            <a:off x="6080760" y="6144768"/>
            <a:ext cx="1234440" cy="25603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LLM Agent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4" name="Legend Heuristic"/>
          <p:cNvSpPr/>
          <p:nvPr/>
        </p:nvSpPr>
        <p:spPr>
          <a:xfrm>
            <a:off x="7498080" y="6144768"/>
            <a:ext cx="1234440" cy="256032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B7D5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Heuristic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5" name="Legend Tool"/>
          <p:cNvSpPr/>
          <p:nvPr/>
        </p:nvSpPr>
        <p:spPr>
          <a:xfrm>
            <a:off x="8915400" y="6144768"/>
            <a:ext cx="1234440" cy="256032"/>
          </a:xfrm>
          <a:prstGeom prst="roundRect">
            <a:avLst/>
          </a:prstGeom>
          <a:solidFill>
            <a:srgbClr val="FFF8F8"/>
          </a:solidFill>
          <a:ln w="11430">
            <a:solidFill>
              <a:srgbClr val="E0A5A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Tool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6" name="Legend System/API"/>
          <p:cNvSpPr/>
          <p:nvPr/>
        </p:nvSpPr>
        <p:spPr>
          <a:xfrm>
            <a:off x="10332720" y="6144768"/>
            <a:ext cx="1234440" cy="256032"/>
          </a:xfrm>
          <a:prstGeom prst="roundRect">
            <a:avLst/>
          </a:prstGeom>
          <a:solidFill>
            <a:srgbClr val="FAF8FF"/>
          </a:solidFill>
          <a:ln w="11430">
            <a:solidFill>
              <a:srgbClr val="C4B5F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System/API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10" name="/agent/daily-patterns"/>
          <p:cNvSpPr/>
          <p:nvPr/>
        </p:nvSpPr>
        <p:spPr>
          <a:xfrm>
            <a:off x="320040" y="1143000"/>
            <a:ext cx="1874519" cy="43891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/agent/daily-patterns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11" name="/agent/missed-dose-events"/>
          <p:cNvSpPr/>
          <p:nvPr/>
        </p:nvSpPr>
        <p:spPr>
          <a:xfrm>
            <a:off x="320040" y="1965960"/>
            <a:ext cx="1874519" cy="43891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/agent/missed-dose-events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12" name="/agent/user-reply"/>
          <p:cNvSpPr/>
          <p:nvPr/>
        </p:nvSpPr>
        <p:spPr>
          <a:xfrm>
            <a:off x="320040" y="2788920"/>
            <a:ext cx="1874519" cy="43891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/agent/user-reply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13" name="/agent/multiturn-chat"/>
          <p:cNvSpPr/>
          <p:nvPr/>
        </p:nvSpPr>
        <p:spPr>
          <a:xfrm>
            <a:off x="320040" y="3611880"/>
            <a:ext cx="1874519" cy="43891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/agent/multiturn-chat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14" name="IngressRouter"/>
          <p:cNvSpPr/>
          <p:nvPr/>
        </p:nvSpPr>
        <p:spPr>
          <a:xfrm>
            <a:off x="2514600" y="2286000"/>
            <a:ext cx="1600200" cy="640080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D4D4D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IngressRouter</a:t>
            </a:r>
            <a:br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request_kind guard</a:t>
            </a:r>
            <a:endParaRPr lang="ko-KR" sz="900" dirty="0">
              <a:latin typeface="Malgun Gothic"/>
              <a:ea typeface="Malgun Gothic"/>
            </a:endParaRPr>
          </a:p>
        </p:txBody>
      </p:sp>
      <p:cxnSp>
        <p:nvCxnSpPr>
          <p:cNvPr id="15" name="Arrow 15"/>
          <p:cNvCxnSpPr/>
          <p:nvPr/>
        </p:nvCxnSpPr>
        <p:spPr>
          <a:xfrm>
            <a:off x="2194560" y="1362456"/>
            <a:ext cx="320040" cy="124358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 16"/>
          <p:cNvCxnSpPr/>
          <p:nvPr/>
        </p:nvCxnSpPr>
        <p:spPr>
          <a:xfrm>
            <a:off x="2194560" y="2185415"/>
            <a:ext cx="320040" cy="42062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 17"/>
          <p:cNvCxnSpPr/>
          <p:nvPr/>
        </p:nvCxnSpPr>
        <p:spPr>
          <a:xfrm flipV="1">
            <a:off x="2194560" y="2606040"/>
            <a:ext cx="320040" cy="402335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 18"/>
          <p:cNvCxnSpPr/>
          <p:nvPr/>
        </p:nvCxnSpPr>
        <p:spPr>
          <a:xfrm flipV="1">
            <a:off x="2194560" y="2606040"/>
            <a:ext cx="320040" cy="1225296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ailyPattern OptimizationService"/>
          <p:cNvSpPr/>
          <p:nvPr/>
        </p:nvSpPr>
        <p:spPr>
          <a:xfrm>
            <a:off x="4617720" y="960120"/>
            <a:ext cx="1874519" cy="566928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D4D4D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DailyPattern</a:t>
            </a:r>
            <a:br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OptimizationService</a:t>
            </a:r>
            <a:endParaRPr lang="ko-KR" sz="900" dirty="0">
              <a:latin typeface="Malgun Gothic"/>
              <a:ea typeface="Malgun Gothic"/>
            </a:endParaRPr>
          </a:p>
        </p:txBody>
      </p:sp>
      <p:cxnSp>
        <p:nvCxnSpPr>
          <p:cNvPr id="20" name="Arrow 20"/>
          <p:cNvCxnSpPr/>
          <p:nvPr/>
        </p:nvCxnSpPr>
        <p:spPr>
          <a:xfrm flipV="1">
            <a:off x="4114800" y="1243584"/>
            <a:ext cx="502919" cy="1362456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issedDose CoachingService"/>
          <p:cNvSpPr/>
          <p:nvPr/>
        </p:nvSpPr>
        <p:spPr>
          <a:xfrm>
            <a:off x="4617720" y="1874519"/>
            <a:ext cx="1874519" cy="566928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D4D4D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MissedDose</a:t>
            </a:r>
            <a:br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CoachingService</a:t>
            </a:r>
            <a:endParaRPr lang="ko-KR" sz="900" dirty="0">
              <a:latin typeface="Malgun Gothic"/>
              <a:ea typeface="Malgun Gothic"/>
            </a:endParaRPr>
          </a:p>
        </p:txBody>
      </p:sp>
      <p:cxnSp>
        <p:nvCxnSpPr>
          <p:cNvPr id="22" name="Arrow 22"/>
          <p:cNvCxnSpPr/>
          <p:nvPr/>
        </p:nvCxnSpPr>
        <p:spPr>
          <a:xfrm flipV="1">
            <a:off x="4114800" y="2157984"/>
            <a:ext cx="502919" cy="448056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atientConversation Service"/>
          <p:cNvSpPr/>
          <p:nvPr/>
        </p:nvSpPr>
        <p:spPr>
          <a:xfrm>
            <a:off x="4617720" y="2788920"/>
            <a:ext cx="1874519" cy="566928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D4D4D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PatientConversation</a:t>
            </a:r>
            <a:br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Service</a:t>
            </a:r>
            <a:endParaRPr lang="ko-KR" sz="900" dirty="0">
              <a:latin typeface="Malgun Gothic"/>
              <a:ea typeface="Malgun Gothic"/>
            </a:endParaRPr>
          </a:p>
        </p:txBody>
      </p:sp>
      <p:cxnSp>
        <p:nvCxnSpPr>
          <p:cNvPr id="24" name="Arrow 24"/>
          <p:cNvCxnSpPr/>
          <p:nvPr/>
        </p:nvCxnSpPr>
        <p:spPr>
          <a:xfrm>
            <a:off x="4114800" y="2606040"/>
            <a:ext cx="502919" cy="466343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ystemPolicyRequest Service"/>
          <p:cNvSpPr/>
          <p:nvPr/>
        </p:nvSpPr>
        <p:spPr>
          <a:xfrm>
            <a:off x="4617720" y="3703320"/>
            <a:ext cx="1874519" cy="566928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D4D4D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SystemPolicyRequest</a:t>
            </a:r>
            <a:br/>
            <a:r>
              <a:rPr lang="ko-KR" sz="900" b="1" dirty="0">
                <a:solidFill>
                  <a:srgbClr val="222222"/>
                </a:solidFill>
                <a:latin typeface="Malgun Gothic"/>
                <a:ea typeface="Malgun Gothic"/>
              </a:rPr>
              <a:t>Service</a:t>
            </a:r>
            <a:endParaRPr lang="ko-KR" sz="900" dirty="0">
              <a:latin typeface="Malgun Gothic"/>
              <a:ea typeface="Malgun Gothic"/>
            </a:endParaRPr>
          </a:p>
        </p:txBody>
      </p:sp>
      <p:cxnSp>
        <p:nvCxnSpPr>
          <p:cNvPr id="26" name="Arrow 26"/>
          <p:cNvCxnSpPr/>
          <p:nvPr/>
        </p:nvCxnSpPr>
        <p:spPr>
          <a:xfrm>
            <a:off x="4114800" y="2606040"/>
            <a:ext cx="502919" cy="1380743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attern_analyzer LLM"/>
          <p:cNvSpPr/>
          <p:nvPr/>
        </p:nvSpPr>
        <p:spPr>
          <a:xfrm>
            <a:off x="7086600" y="868680"/>
            <a:ext cx="16002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pattern_analyzer</a:t>
            </a:r>
            <a:br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LLM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28" name="policy_planner LLM"/>
          <p:cNvSpPr/>
          <p:nvPr/>
        </p:nvSpPr>
        <p:spPr>
          <a:xfrm>
            <a:off x="9281160" y="1097280"/>
            <a:ext cx="16002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policy_planner</a:t>
            </a:r>
            <a:br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LLM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29" name="missed_dose_coach LLM"/>
          <p:cNvSpPr/>
          <p:nvPr/>
        </p:nvSpPr>
        <p:spPr>
          <a:xfrm>
            <a:off x="7086600" y="1874519"/>
            <a:ext cx="16002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missed_dose_coach</a:t>
            </a:r>
            <a:br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LLM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30" name="patient_conversation agent LLM"/>
          <p:cNvSpPr/>
          <p:nvPr/>
        </p:nvSpPr>
        <p:spPr>
          <a:xfrm>
            <a:off x="7086600" y="2788920"/>
            <a:ext cx="16002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patient_conversation</a:t>
            </a:r>
            <a:br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agent LLM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31" name="multiturn_chat agent LLM"/>
          <p:cNvSpPr/>
          <p:nvPr/>
        </p:nvSpPr>
        <p:spPr>
          <a:xfrm>
            <a:off x="7086600" y="3703320"/>
            <a:ext cx="16002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multiturn_chat</a:t>
            </a:r>
            <a:br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agent LLM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32" name="policy_planner LLM"/>
          <p:cNvSpPr/>
          <p:nvPr/>
        </p:nvSpPr>
        <p:spPr>
          <a:xfrm>
            <a:off x="9281160" y="3886200"/>
            <a:ext cx="16002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policy_planner</a:t>
            </a:r>
            <a:br/>
            <a:r>
              <a:rPr lang="ko-KR" sz="850" b="1" dirty="0">
                <a:solidFill>
                  <a:srgbClr val="222222"/>
                </a:solidFill>
                <a:latin typeface="Malgun Gothic"/>
                <a:ea typeface="Malgun Gothic"/>
              </a:rPr>
              <a:t>LLM</a:t>
            </a:r>
            <a:endParaRPr lang="ko-KR" sz="850" dirty="0">
              <a:latin typeface="Malgun Gothic"/>
              <a:ea typeface="Malgun Gothic"/>
            </a:endParaRPr>
          </a:p>
        </p:txBody>
      </p:sp>
      <p:cxnSp>
        <p:nvCxnSpPr>
          <p:cNvPr id="33" name="Arrow 33"/>
          <p:cNvCxnSpPr/>
          <p:nvPr/>
        </p:nvCxnSpPr>
        <p:spPr>
          <a:xfrm flipV="1">
            <a:off x="6492240" y="1133856"/>
            <a:ext cx="594360" cy="10972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rrow 34"/>
          <p:cNvCxnSpPr/>
          <p:nvPr/>
        </p:nvCxnSpPr>
        <p:spPr>
          <a:xfrm>
            <a:off x="8686800" y="1133856"/>
            <a:ext cx="594360" cy="22860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rrow 35"/>
          <p:cNvCxnSpPr/>
          <p:nvPr/>
        </p:nvCxnSpPr>
        <p:spPr>
          <a:xfrm flipV="1">
            <a:off x="6492240" y="2139696"/>
            <a:ext cx="594360" cy="1828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rrow 36"/>
          <p:cNvCxnSpPr/>
          <p:nvPr/>
        </p:nvCxnSpPr>
        <p:spPr>
          <a:xfrm flipV="1">
            <a:off x="6492240" y="3054096"/>
            <a:ext cx="594360" cy="1828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rrow 37"/>
          <p:cNvCxnSpPr/>
          <p:nvPr/>
        </p:nvCxnSpPr>
        <p:spPr>
          <a:xfrm flipV="1">
            <a:off x="6492240" y="3968496"/>
            <a:ext cx="594360" cy="1828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rrow 38"/>
          <p:cNvCxnSpPr/>
          <p:nvPr/>
        </p:nvCxnSpPr>
        <p:spPr>
          <a:xfrm>
            <a:off x="8686800" y="3968496"/>
            <a:ext cx="594360" cy="18288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licyIntent"/>
          <p:cNvSpPr/>
          <p:nvPr/>
        </p:nvSpPr>
        <p:spPr>
          <a:xfrm>
            <a:off x="7543800" y="4434840"/>
            <a:ext cx="1783080" cy="411480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B7D5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60" dirty="0">
                <a:solidFill>
                  <a:srgbClr val="222222"/>
                </a:solidFill>
                <a:latin typeface="Malgun Gothic"/>
                <a:ea typeface="Malgun Gothic"/>
              </a:rPr>
              <a:t>policy_change_intent</a:t>
            </a:r>
            <a:br/>
            <a:r>
              <a:rPr lang="ko-KR" sz="760" dirty="0">
                <a:solidFill>
                  <a:srgbClr val="222222"/>
                </a:solidFill>
                <a:latin typeface="Malgun Gothic"/>
                <a:ea typeface="Malgun Gothic"/>
              </a:rPr>
              <a:t>구조화</a:t>
            </a:r>
            <a:endParaRPr lang="ko-KR" sz="760" dirty="0">
              <a:latin typeface="Malgun Gothic"/>
              <a:ea typeface="Malgun Gothic"/>
            </a:endParaRPr>
          </a:p>
        </p:txBody>
      </p:sp>
      <p:sp>
        <p:nvSpPr>
          <p:cNvPr id="40" name="Tools"/>
          <p:cNvSpPr/>
          <p:nvPr/>
        </p:nvSpPr>
        <p:spPr>
          <a:xfrm>
            <a:off x="9692640" y="2057400"/>
            <a:ext cx="1920240" cy="1234440"/>
          </a:xfrm>
          <a:prstGeom prst="roundRect">
            <a:avLst/>
          </a:prstGeom>
          <a:solidFill>
            <a:srgbClr val="FFF8F8"/>
          </a:solidFill>
          <a:ln w="11430">
            <a:solidFill>
              <a:srgbClr val="E0A5A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60" b="1" dirty="0">
                <a:solidFill>
                  <a:srgbClr val="222222"/>
                </a:solidFill>
                <a:latin typeface="Malgun Gothic"/>
                <a:ea typeface="Malgun Gothic"/>
              </a:rPr>
              <a:t>Tools</a:t>
            </a:r>
            <a:br/>
            <a:r>
              <a:rPr lang="ko-KR" sz="760" b="1" dirty="0">
                <a:solidFill>
                  <a:srgbClr val="222222"/>
                </a:solidFill>
                <a:latin typeface="Malgun Gothic"/>
                <a:ea typeface="Malgun Gothic"/>
              </a:rPr>
              <a:t>apply_notification_policy</a:t>
            </a:r>
            <a:br/>
            <a:r>
              <a:rPr lang="ko-KR" sz="760" b="1" dirty="0">
                <a:solidFill>
                  <a:srgbClr val="222222"/>
                </a:solidFill>
                <a:latin typeface="Malgun Gothic"/>
                <a:ea typeface="Malgun Gothic"/>
              </a:rPr>
              <a:t>lookup_side_effect_info</a:t>
            </a:r>
            <a:br/>
            <a:r>
              <a:rPr lang="ko-KR" sz="760" b="1" dirty="0">
                <a:solidFill>
                  <a:srgbClr val="222222"/>
                </a:solidFill>
                <a:latin typeface="Malgun Gothic"/>
                <a:ea typeface="Malgun Gothic"/>
              </a:rPr>
              <a:t>mark_dose_taken</a:t>
            </a:r>
            <a:endParaRPr lang="ko-KR" sz="760" dirty="0">
              <a:latin typeface="Malgun Gothic"/>
              <a:ea typeface="Malgun Gothic"/>
            </a:endParaRPr>
          </a:p>
        </p:txBody>
      </p:sp>
      <p:cxnSp>
        <p:nvCxnSpPr>
          <p:cNvPr id="41" name="Arrow 41"/>
          <p:cNvCxnSpPr/>
          <p:nvPr/>
        </p:nvCxnSpPr>
        <p:spPr>
          <a:xfrm>
            <a:off x="10058400" y="1627632"/>
            <a:ext cx="411479" cy="42976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rrow 42"/>
          <p:cNvCxnSpPr/>
          <p:nvPr/>
        </p:nvCxnSpPr>
        <p:spPr>
          <a:xfrm>
            <a:off x="7909560" y="2404872"/>
            <a:ext cx="1783079" cy="6400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Arrow 43"/>
          <p:cNvCxnSpPr/>
          <p:nvPr/>
        </p:nvCxnSpPr>
        <p:spPr>
          <a:xfrm flipV="1">
            <a:off x="7909560" y="2697480"/>
            <a:ext cx="1783079" cy="621791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Arrow 44"/>
          <p:cNvCxnSpPr/>
          <p:nvPr/>
        </p:nvCxnSpPr>
        <p:spPr>
          <a:xfrm flipV="1">
            <a:off x="10058400" y="3291840"/>
            <a:ext cx="411479" cy="1124712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52144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50" b="1" dirty="0">
                <a:solidFill>
                  <a:srgbClr val="222222"/>
                </a:solidFill>
                <a:latin typeface="Malgun Gothic"/>
                <a:ea typeface="Malgun Gothic"/>
              </a:rPr>
              <a:t>Agent별 Tool 접근 권한</a:t>
            </a:r>
            <a:br/>
            <a:r>
              <a:rPr lang="ko-KR" sz="1650" b="1" dirty="0">
                <a:solidFill>
                  <a:srgbClr val="222222"/>
                </a:solidFill>
                <a:latin typeface="Malgun Gothic"/>
                <a:ea typeface="Malgun Gothic"/>
              </a:rPr>
              <a:t>정책 변경은 후보 생성, 부작용은 PHR 조회, 복약 체크는 system_app action</a:t>
            </a:r>
            <a:endParaRPr lang="ko-KR" sz="1650" dirty="0">
              <a:latin typeface="Malgun Gothic"/>
              <a:ea typeface="Malgun Gothic"/>
            </a:endParaRPr>
          </a:p>
        </p:txBody>
      </p:sp>
      <p:sp>
        <p:nvSpPr>
          <p:cNvPr id="3" name="Legend LLM Agent"/>
          <p:cNvSpPr/>
          <p:nvPr/>
        </p:nvSpPr>
        <p:spPr>
          <a:xfrm>
            <a:off x="6400800" y="850392"/>
            <a:ext cx="1234440" cy="25603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LLM Agent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4" name="Legend Heuristic"/>
          <p:cNvSpPr/>
          <p:nvPr/>
        </p:nvSpPr>
        <p:spPr>
          <a:xfrm>
            <a:off x="7818120" y="850392"/>
            <a:ext cx="1234440" cy="256032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B7D5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Heuristic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5" name="Legend Tool"/>
          <p:cNvSpPr/>
          <p:nvPr/>
        </p:nvSpPr>
        <p:spPr>
          <a:xfrm>
            <a:off x="9235440" y="850392"/>
            <a:ext cx="1234440" cy="256032"/>
          </a:xfrm>
          <a:prstGeom prst="roundRect">
            <a:avLst/>
          </a:prstGeom>
          <a:solidFill>
            <a:srgbClr val="FFF8F8"/>
          </a:solidFill>
          <a:ln w="11430">
            <a:solidFill>
              <a:srgbClr val="E0A5A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Tool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6" name="Legend System/API"/>
          <p:cNvSpPr/>
          <p:nvPr/>
        </p:nvSpPr>
        <p:spPr>
          <a:xfrm>
            <a:off x="10652760" y="850392"/>
            <a:ext cx="1234440" cy="256032"/>
          </a:xfrm>
          <a:prstGeom prst="roundRect">
            <a:avLst/>
          </a:prstGeom>
          <a:solidFill>
            <a:srgbClr val="FAF8FF"/>
          </a:solidFill>
          <a:ln w="11430">
            <a:solidFill>
              <a:srgbClr val="C4B5F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50" dirty="0">
                <a:solidFill>
                  <a:srgbClr val="222222"/>
                </a:solidFill>
                <a:latin typeface="Malgun Gothic"/>
                <a:ea typeface="Malgun Gothic"/>
              </a:rPr>
              <a:t>System/API</a:t>
            </a:r>
            <a:endParaRPr lang="ko-KR" sz="850" dirty="0">
              <a:latin typeface="Malgun Gothic"/>
              <a:ea typeface="Malgun Gothic"/>
            </a:endParaRPr>
          </a:p>
        </p:txBody>
      </p:sp>
      <p:sp>
        <p:nvSpPr>
          <p:cNvPr id="20" name="policy_planner Daily / Multiturn 정책 전문"/>
          <p:cNvSpPr/>
          <p:nvPr/>
        </p:nvSpPr>
        <p:spPr>
          <a:xfrm>
            <a:off x="502920" y="1234440"/>
            <a:ext cx="25146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policy_planner</a:t>
            </a:r>
            <a:br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Daily / Multiturn 정책 전문</a:t>
            </a:r>
            <a:endParaRPr lang="ko-KR" sz="820" dirty="0">
              <a:latin typeface="Malgun Gothic"/>
              <a:ea typeface="Malgun Gothic"/>
            </a:endParaRPr>
          </a:p>
        </p:txBody>
      </p:sp>
      <p:sp>
        <p:nvSpPr>
          <p:cNvPr id="21" name="missed_dose_coach 미복용 최초 알림"/>
          <p:cNvSpPr/>
          <p:nvPr/>
        </p:nvSpPr>
        <p:spPr>
          <a:xfrm>
            <a:off x="502920" y="2057400"/>
            <a:ext cx="25146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missed_dose_coach</a:t>
            </a:r>
            <a:br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미복용 최초 알림</a:t>
            </a:r>
            <a:endParaRPr lang="ko-KR" sz="820" dirty="0">
              <a:latin typeface="Malgun Gothic"/>
              <a:ea typeface="Malgun Gothic"/>
            </a:endParaRPr>
          </a:p>
        </p:txBody>
      </p:sp>
      <p:sp>
        <p:nvSpPr>
          <p:cNvPr id="22" name="patient_conversation_agent user_reply 단답 처리"/>
          <p:cNvSpPr/>
          <p:nvPr/>
        </p:nvSpPr>
        <p:spPr>
          <a:xfrm>
            <a:off x="502920" y="2880360"/>
            <a:ext cx="25146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patient_conversation_agent</a:t>
            </a:r>
            <a:br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user_reply 단답 처리</a:t>
            </a:r>
            <a:endParaRPr lang="ko-KR" sz="820" dirty="0">
              <a:latin typeface="Malgun Gothic"/>
              <a:ea typeface="Malgun Gothic"/>
            </a:endParaRPr>
          </a:p>
        </p:txBody>
      </p:sp>
      <p:sp>
        <p:nvSpPr>
          <p:cNvPr id="23" name="multiturn_chat_agent 자유 대화, 비정책 tool"/>
          <p:cNvSpPr/>
          <p:nvPr/>
        </p:nvSpPr>
        <p:spPr>
          <a:xfrm>
            <a:off x="502920" y="3703320"/>
            <a:ext cx="25146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multiturn_chat_agent</a:t>
            </a:r>
            <a:br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자유 대화, 비정책 tool</a:t>
            </a:r>
            <a:endParaRPr lang="ko-KR" sz="820" dirty="0">
              <a:latin typeface="Malgun Gothic"/>
              <a:ea typeface="Malgun Gothic"/>
            </a:endParaRPr>
          </a:p>
        </p:txBody>
      </p:sp>
      <p:sp>
        <p:nvSpPr>
          <p:cNvPr id="24" name="side_effect_response_writer PHR 결과 환자 답변화"/>
          <p:cNvSpPr/>
          <p:nvPr/>
        </p:nvSpPr>
        <p:spPr>
          <a:xfrm>
            <a:off x="502920" y="4526280"/>
            <a:ext cx="2514600" cy="53035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side_effect_response_writer</a:t>
            </a:r>
            <a:br/>
            <a:r>
              <a:rPr lang="ko-KR" sz="820" b="1" dirty="0">
                <a:solidFill>
                  <a:srgbClr val="222222"/>
                </a:solidFill>
                <a:latin typeface="Malgun Gothic"/>
                <a:ea typeface="Malgun Gothic"/>
              </a:rPr>
              <a:t>PHR 결과 환자 답변화</a:t>
            </a:r>
            <a:endParaRPr lang="ko-KR" sz="820" dirty="0">
              <a:latin typeface="Malgun Gothic"/>
              <a:ea typeface="Malgun Gothic"/>
            </a:endParaRPr>
          </a:p>
        </p:txBody>
      </p:sp>
      <p:sp>
        <p:nvSpPr>
          <p:cNvPr id="25" name="apply_notification_policy 정책 변경 후보 생성 확인 알림으로 이어짐"/>
          <p:cNvSpPr/>
          <p:nvPr/>
        </p:nvSpPr>
        <p:spPr>
          <a:xfrm>
            <a:off x="4617720" y="1234440"/>
            <a:ext cx="2423160" cy="713232"/>
          </a:xfrm>
          <a:prstGeom prst="roundRect">
            <a:avLst/>
          </a:prstGeom>
          <a:solidFill>
            <a:srgbClr val="FFF8F8"/>
          </a:solidFill>
          <a:ln w="11430">
            <a:solidFill>
              <a:srgbClr val="E0A5A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apply_notification_policy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정책 변경 후보 생성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확인 알림으로 이어짐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26" name="lookup_side_effect_info PHR 주의사항/부작용 조회"/>
          <p:cNvSpPr/>
          <p:nvPr/>
        </p:nvSpPr>
        <p:spPr>
          <a:xfrm>
            <a:off x="4617720" y="2697480"/>
            <a:ext cx="2423160" cy="713232"/>
          </a:xfrm>
          <a:prstGeom prst="roundRect">
            <a:avLst/>
          </a:prstGeom>
          <a:solidFill>
            <a:srgbClr val="FFF8F8"/>
          </a:solidFill>
          <a:ln w="11430">
            <a:solidFill>
              <a:srgbClr val="E0A5A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lookup_side_effect_info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PHR 주의사항/부작용 조회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27" name="mark_dose_taken 복약 완료 체크 요청"/>
          <p:cNvSpPr/>
          <p:nvPr/>
        </p:nvSpPr>
        <p:spPr>
          <a:xfrm>
            <a:off x="4617720" y="3977639"/>
            <a:ext cx="2423160" cy="713232"/>
          </a:xfrm>
          <a:prstGeom prst="roundRect">
            <a:avLst/>
          </a:prstGeom>
          <a:solidFill>
            <a:srgbClr val="FFF8F8"/>
          </a:solidFill>
          <a:ln w="11430">
            <a:solidFill>
              <a:srgbClr val="E0A5A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mark_dose_taken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복약 완료 체크 요청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28" name="system_app 정책 확인 알림 DB override 저장"/>
          <p:cNvSpPr/>
          <p:nvPr/>
        </p:nvSpPr>
        <p:spPr>
          <a:xfrm>
            <a:off x="8503920" y="1234440"/>
            <a:ext cx="2423160" cy="713232"/>
          </a:xfrm>
          <a:prstGeom prst="roundRect">
            <a:avLst/>
          </a:prstGeom>
          <a:solidFill>
            <a:srgbClr val="FAF8FF"/>
          </a:solidFill>
          <a:ln w="11430">
            <a:solidFill>
              <a:srgbClr val="C4B5F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system_app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정책 확인 알림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DB override 저장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29" name="PHR service /phr/side-effects/assess"/>
          <p:cNvSpPr/>
          <p:nvPr/>
        </p:nvSpPr>
        <p:spPr>
          <a:xfrm>
            <a:off x="8503920" y="2697480"/>
            <a:ext cx="2423160" cy="713232"/>
          </a:xfrm>
          <a:prstGeom prst="roundRect">
            <a:avLst/>
          </a:prstGeom>
          <a:solidFill>
            <a:srgbClr val="FAF8FF"/>
          </a:solidFill>
          <a:ln w="11430">
            <a:solidFill>
              <a:srgbClr val="C4B5F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PHR service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/phr/side-effects/assess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30" name="system_app DoseEvent taken 처리"/>
          <p:cNvSpPr/>
          <p:nvPr/>
        </p:nvSpPr>
        <p:spPr>
          <a:xfrm>
            <a:off x="8503920" y="3977639"/>
            <a:ext cx="2423160" cy="713232"/>
          </a:xfrm>
          <a:prstGeom prst="roundRect">
            <a:avLst/>
          </a:prstGeom>
          <a:solidFill>
            <a:srgbClr val="FAF8FF"/>
          </a:solidFill>
          <a:ln w="11430">
            <a:solidFill>
              <a:srgbClr val="C4B5F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system_app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DoseEvent taken 처리</a:t>
            </a:r>
            <a:endParaRPr lang="ko-KR" sz="800" dirty="0">
              <a:latin typeface="Malgun Gothic"/>
              <a:ea typeface="Malgun Gothic"/>
            </a:endParaRPr>
          </a:p>
        </p:txBody>
      </p:sp>
      <p:cxnSp>
        <p:nvCxnSpPr>
          <p:cNvPr id="31" name="Arrow 31"/>
          <p:cNvCxnSpPr/>
          <p:nvPr/>
        </p:nvCxnSpPr>
        <p:spPr>
          <a:xfrm>
            <a:off x="3017520" y="1499616"/>
            <a:ext cx="1600200" cy="9144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rrow 32"/>
          <p:cNvCxnSpPr/>
          <p:nvPr/>
        </p:nvCxnSpPr>
        <p:spPr>
          <a:xfrm>
            <a:off x="3017520" y="2322576"/>
            <a:ext cx="1600200" cy="731519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rrow 33"/>
          <p:cNvCxnSpPr/>
          <p:nvPr/>
        </p:nvCxnSpPr>
        <p:spPr>
          <a:xfrm flipV="1">
            <a:off x="3017520" y="1591056"/>
            <a:ext cx="1600200" cy="155448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rrow 34"/>
          <p:cNvCxnSpPr/>
          <p:nvPr/>
        </p:nvCxnSpPr>
        <p:spPr>
          <a:xfrm flipV="1">
            <a:off x="3017520" y="3054096"/>
            <a:ext cx="1600200" cy="9144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rrow 35"/>
          <p:cNvCxnSpPr/>
          <p:nvPr/>
        </p:nvCxnSpPr>
        <p:spPr>
          <a:xfrm>
            <a:off x="3017520" y="3145536"/>
            <a:ext cx="1600200" cy="118872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rrow 36"/>
          <p:cNvCxnSpPr/>
          <p:nvPr/>
        </p:nvCxnSpPr>
        <p:spPr>
          <a:xfrm flipV="1">
            <a:off x="3017520" y="3054096"/>
            <a:ext cx="1600200" cy="91440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rrow 37"/>
          <p:cNvCxnSpPr/>
          <p:nvPr/>
        </p:nvCxnSpPr>
        <p:spPr>
          <a:xfrm>
            <a:off x="3017520" y="3968496"/>
            <a:ext cx="1600200" cy="36576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rrow 38"/>
          <p:cNvCxnSpPr/>
          <p:nvPr/>
        </p:nvCxnSpPr>
        <p:spPr>
          <a:xfrm>
            <a:off x="7040880" y="1591056"/>
            <a:ext cx="1463040" cy="914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rrow 39"/>
          <p:cNvCxnSpPr/>
          <p:nvPr/>
        </p:nvCxnSpPr>
        <p:spPr>
          <a:xfrm>
            <a:off x="7040880" y="3054096"/>
            <a:ext cx="1463040" cy="914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rrow 40"/>
          <p:cNvCxnSpPr/>
          <p:nvPr/>
        </p:nvCxnSpPr>
        <p:spPr>
          <a:xfrm>
            <a:off x="7040880" y="4334256"/>
            <a:ext cx="1463040" cy="914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rrow 41"/>
          <p:cNvCxnSpPr/>
          <p:nvPr/>
        </p:nvCxnSpPr>
        <p:spPr>
          <a:xfrm flipH="1">
            <a:off x="3017520" y="3054096"/>
            <a:ext cx="4023360" cy="1737360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52144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50" b="1" dirty="0">
                <a:solidFill>
                  <a:srgbClr val="222222"/>
                </a:solidFill>
                <a:latin typeface="Malgun Gothic"/>
                <a:ea typeface="Malgun Gothic"/>
              </a:rPr>
              <a:t>Multiturn 정책 요청: policy_planner Handoff</a:t>
            </a:r>
            <a:br/>
            <a:r>
              <a:rPr lang="ko-KR" sz="1650" b="1" dirty="0">
                <a:solidFill>
                  <a:srgbClr val="222222"/>
                </a:solidFill>
                <a:latin typeface="Malgun Gothic"/>
                <a:ea typeface="Malgun Gothic"/>
              </a:rPr>
              <a:t>복합 정책 요청은 대화 Agent가 직접 Tool을 만들지 않고 정책 전문 Agent로 넘김</a:t>
            </a:r>
            <a:endParaRPr lang="ko-KR" sz="1650" dirty="0">
              <a:latin typeface="Malgun Gothic"/>
              <a:ea typeface="Malgun Gothic"/>
            </a:endParaRPr>
          </a:p>
        </p:txBody>
      </p:sp>
      <p:sp>
        <p:nvSpPr>
          <p:cNvPr id="30" name="환자 자유 대화 “아침은 더 자주, 점심은 그대로, 저녁은 줄여줘”"/>
          <p:cNvSpPr/>
          <p:nvPr/>
        </p:nvSpPr>
        <p:spPr>
          <a:xfrm>
            <a:off x="502920" y="1143000"/>
            <a:ext cx="2331720" cy="713232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환자 자유 대화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“아침은 더 자주, 점심은 그대로, 저녁은 줄여줘”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31" name="SystemPolicyRequestService 정책 요청 여부 감지"/>
          <p:cNvSpPr/>
          <p:nvPr/>
        </p:nvSpPr>
        <p:spPr>
          <a:xfrm>
            <a:off x="502920" y="2057400"/>
            <a:ext cx="2331720" cy="713232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D4D4D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SystemPolicyRequestService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정책 요청 여부 감지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32" name="policy_change_intent requested_changes 리스트 생성 needs_clarification 포함"/>
          <p:cNvSpPr/>
          <p:nvPr/>
        </p:nvSpPr>
        <p:spPr>
          <a:xfrm>
            <a:off x="3337560" y="2057400"/>
            <a:ext cx="2331720" cy="713232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B7D5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policy_change_intent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requested_changes 리스트 생성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needs_clarification 포함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33" name="policy_planner 정책 전문 LLM tool_calls[] 표준 출력"/>
          <p:cNvSpPr/>
          <p:nvPr/>
        </p:nvSpPr>
        <p:spPr>
          <a:xfrm>
            <a:off x="6172200" y="2057400"/>
            <a:ext cx="2331720" cy="713232"/>
          </a:xfrm>
          <a:prstGeom prst="roundRect">
            <a:avLst/>
          </a:prstGeom>
          <a:solidFill>
            <a:srgbClr val="FFFDF4"/>
          </a:solidFill>
          <a:ln w="11430">
            <a:solidFill>
              <a:srgbClr val="E7C87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policy_planner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정책 전문 LLM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tool_calls[] 표준 출력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34" name="apply_notification_policy slot별 정책 후보 리스트"/>
          <p:cNvSpPr/>
          <p:nvPr/>
        </p:nvSpPr>
        <p:spPr>
          <a:xfrm>
            <a:off x="9006840" y="2057400"/>
            <a:ext cx="2331720" cy="713232"/>
          </a:xfrm>
          <a:prstGeom prst="roundRect">
            <a:avLst/>
          </a:prstGeom>
          <a:solidFill>
            <a:srgbClr val="FFF8F8"/>
          </a:solidFill>
          <a:ln w="11430">
            <a:solidFill>
              <a:srgbClr val="E0A5A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apply_notification_policy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slot별 정책 후보 리스트</a:t>
            </a:r>
            <a:endParaRPr lang="ko-KR" sz="800" dirty="0">
              <a:latin typeface="Malgun Gothic"/>
              <a:ea typeface="Malgun Gothic"/>
            </a:endParaRPr>
          </a:p>
        </p:txBody>
      </p:sp>
      <p:sp>
        <p:nvSpPr>
          <p:cNvPr id="35" name="정책 변경 확인 알림 1. 변경 / 2. 현행 유지"/>
          <p:cNvSpPr/>
          <p:nvPr/>
        </p:nvSpPr>
        <p:spPr>
          <a:xfrm>
            <a:off x="9006840" y="3337560"/>
            <a:ext cx="2331720" cy="713232"/>
          </a:xfrm>
          <a:prstGeom prst="roundRect">
            <a:avLst/>
          </a:prstGeom>
          <a:solidFill>
            <a:srgbClr val="FAF8FF"/>
          </a:solidFill>
          <a:ln w="11430">
            <a:solidFill>
              <a:srgbClr val="C4B5F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정책 변경 확인 알림</a:t>
            </a:r>
            <a:br/>
            <a:r>
              <a:rPr lang="ko-KR" sz="800" b="1" dirty="0">
                <a:solidFill>
                  <a:srgbClr val="222222"/>
                </a:solidFill>
                <a:latin typeface="Malgun Gothic"/>
                <a:ea typeface="Malgun Gothic"/>
              </a:rPr>
              <a:t>1. 변경 / 2. 현행 유지</a:t>
            </a:r>
            <a:endParaRPr lang="ko-KR" sz="800" dirty="0">
              <a:latin typeface="Malgun Gothic"/>
              <a:ea typeface="Malgun Gothic"/>
            </a:endParaRPr>
          </a:p>
        </p:txBody>
      </p:sp>
      <p:cxnSp>
        <p:nvCxnSpPr>
          <p:cNvPr id="36" name="Arrow 36"/>
          <p:cNvCxnSpPr/>
          <p:nvPr/>
        </p:nvCxnSpPr>
        <p:spPr>
          <a:xfrm>
            <a:off x="1664208" y="1856231"/>
            <a:ext cx="9144" cy="20116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rrow 37"/>
          <p:cNvCxnSpPr/>
          <p:nvPr/>
        </p:nvCxnSpPr>
        <p:spPr>
          <a:xfrm>
            <a:off x="2834640" y="2414016"/>
            <a:ext cx="502919" cy="914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rrow 38"/>
          <p:cNvCxnSpPr/>
          <p:nvPr/>
        </p:nvCxnSpPr>
        <p:spPr>
          <a:xfrm>
            <a:off x="5669280" y="2414016"/>
            <a:ext cx="502919" cy="914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rrow 39"/>
          <p:cNvCxnSpPr/>
          <p:nvPr/>
        </p:nvCxnSpPr>
        <p:spPr>
          <a:xfrm>
            <a:off x="8503920" y="2414016"/>
            <a:ext cx="502919" cy="9144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rrow 40"/>
          <p:cNvCxnSpPr/>
          <p:nvPr/>
        </p:nvCxnSpPr>
        <p:spPr>
          <a:xfrm>
            <a:off x="10168128" y="2770632"/>
            <a:ext cx="9144" cy="566928"/>
          </a:xfrm>
          <a:prstGeom prst="line">
            <a:avLst/>
          </a:prstGeom>
          <a:ln w="12700">
            <a:solidFill>
              <a:srgbClr val="94A3B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ntentExample"/>
          <p:cNvSpPr/>
          <p:nvPr/>
        </p:nvSpPr>
        <p:spPr>
          <a:xfrm>
            <a:off x="594360" y="3977639"/>
            <a:ext cx="4800600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690" dirty="0">
                <a:solidFill>
                  <a:srgbClr val="222222"/>
                </a:solidFill>
                <a:latin typeface="Malgun Gothic"/>
                <a:ea typeface="Malgun Gothic"/>
              </a:rPr>
              <a:t>policy_change_intent 예시</a:t>
            </a:r>
            <a:br/>
            <a:r>
              <a:rPr lang="ko-KR" sz="690" dirty="0">
                <a:solidFill>
                  <a:srgbClr val="222222"/>
                </a:solidFill>
                <a:latin typeface="Malgun Gothic"/>
                <a:ea typeface="Malgun Gothic"/>
              </a:rPr>
              <a:t>requested_changes: [</a:t>
            </a:r>
            <a:br/>
            <a:r>
              <a:rPr lang="ko-KR" sz="690" dirty="0">
                <a:solidFill>
                  <a:srgbClr val="222222"/>
                </a:solidFill>
                <a:latin typeface="Malgun Gothic"/>
                <a:ea typeface="Malgun Gothic"/>
              </a:rPr>
              <a:t>  {slot_hint: 아침, direction: increase},</a:t>
            </a:r>
            <a:br/>
            <a:r>
              <a:rPr lang="ko-KR" sz="690" dirty="0">
                <a:solidFill>
                  <a:srgbClr val="222222"/>
                </a:solidFill>
                <a:latin typeface="Malgun Gothic"/>
                <a:ea typeface="Malgun Gothic"/>
              </a:rPr>
              <a:t>  {slot_hint: 점심, direction: keep},</a:t>
            </a:r>
            <a:br/>
            <a:r>
              <a:rPr lang="ko-KR" sz="690" dirty="0">
                <a:solidFill>
                  <a:srgbClr val="222222"/>
                </a:solidFill>
                <a:latin typeface="Malgun Gothic"/>
                <a:ea typeface="Malgun Gothic"/>
              </a:rPr>
              <a:t>  {slot_hint: 저녁, direction: decrease}</a:t>
            </a:r>
            <a:br/>
            <a:r>
              <a:rPr lang="ko-KR" sz="690" dirty="0">
                <a:solidFill>
                  <a:srgbClr val="222222"/>
                </a:solidFill>
                <a:latin typeface="Malgun Gothic"/>
                <a:ea typeface="Malgun Gothic"/>
              </a:rPr>
              <a:t>]</a:t>
            </a:r>
            <a:br/>
            <a:r>
              <a:rPr lang="ko-KR" sz="690" dirty="0">
                <a:solidFill>
                  <a:srgbClr val="222222"/>
                </a:solidFill>
                <a:latin typeface="Malgun Gothic"/>
                <a:ea typeface="Malgun Gothic"/>
              </a:rPr>
              <a:t>needs_clarification: [저녁=야간 21:00인지, 구체 횟수/간격]</a:t>
            </a:r>
            <a:endParaRPr lang="ko-KR" sz="690" dirty="0">
              <a:latin typeface="Malgun Gothic"/>
              <a:ea typeface="Malgun Gothic"/>
            </a:endParaRPr>
          </a:p>
        </p:txBody>
      </p:sp>
      <p:sp>
        <p:nvSpPr>
          <p:cNvPr id="42" name="ToolCallsExample"/>
          <p:cNvSpPr/>
          <p:nvPr/>
        </p:nvSpPr>
        <p:spPr>
          <a:xfrm>
            <a:off x="5715000" y="3977639"/>
            <a:ext cx="5212080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policy_planner output 표준</a:t>
            </a:r>
            <a:br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{</a:t>
            </a:r>
            <a:br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  tool_calls: [</a:t>
            </a:r>
            <a:br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    {name: apply_notification_policy, arguments: {...}}</a:t>
            </a:r>
            <a:br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  ],</a:t>
            </a:r>
            <a:br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  unchanged_slots: [...],</a:t>
            </a:r>
            <a:br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  needs_clarification: [...]</a:t>
            </a:r>
            <a:br/>
            <a:r>
              <a:rPr lang="ko-KR" sz="720" dirty="0">
                <a:solidFill>
                  <a:srgbClr val="222222"/>
                </a:solidFill>
                <a:latin typeface="Malgun Gothic"/>
                <a:ea typeface="Malgun Gothic"/>
              </a:rPr>
              <a:t>}</a:t>
            </a:r>
            <a:endParaRPr lang="ko-KR" sz="720" dirty="0"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 Theme">
  <a:themeElements>
    <a:clrScheme name="Agent">
      <a:dk1>
        <a:srgbClr val="222222"/>
      </a:dk1>
      <a:lt1>
        <a:srgbClr val="FFFFFF"/>
      </a:lt1>
      <a:dk2>
        <a:srgbClr val="444444"/>
      </a:dk2>
      <a:lt2>
        <a:srgbClr val="F7F7F7"/>
      </a:lt2>
      <a:accent1>
        <a:srgbClr val="5599CC"/>
      </a:accent1>
      <a:accent2>
        <a:srgbClr val="C44A4A"/>
      </a:accent2>
      <a:accent3>
        <a:srgbClr val="3A8F5A"/>
      </a:accent3>
      <a:accent4>
        <a:srgbClr val="B88A00"/>
      </a:accent4>
      <a:accent5>
        <a:srgbClr val="6B5FC7"/>
      </a:accent5>
      <a:accent6>
        <a:srgbClr val="999999"/>
      </a:accent6>
      <a:hlink>
        <a:srgbClr val="0563C1"/>
      </a:hlink>
      <a:folHlink>
        <a:srgbClr val="954F72"/>
      </a:folHlink>
    </a:clrScheme>
    <a:fontScheme name="Agent">
      <a:majorFont>
        <a:latin typeface="Malgun Gothic"/>
        <a:ea typeface="Malgun Gothic"/>
      </a:majorFont>
      <a:minorFont>
        <a:latin typeface="Malgun Gothic"/>
        <a:ea typeface="Malgun Gothic"/>
      </a:minorFont>
    </a:fontScheme>
    <a:fmtScheme name="Agen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