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9B360C-C615-F4E4-B71E-22A1078F90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AC08C1-271C-06D7-6301-C634AB8FD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1D4395-FE0F-29BF-6889-9A5C5EBB8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73AF33-02E8-4DCD-977D-6D89AD3CC8C6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258067-034D-18C0-13D0-CD8E25AE0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75A4F2-9B26-427A-B743-F5AA97441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51787-D415-4597-836C-BBB5D52CCA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518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7313A4-AF9E-E385-8A92-761903F40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DABADD-B7A2-FB39-63BF-DB96B1E9E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D06C3E-F603-F779-9FA6-1F569AD71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73AF33-02E8-4DCD-977D-6D89AD3CC8C6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C3E34B-0DD2-5AD6-0BD5-C72E58BBB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F03A68-76D9-CC3F-6A1F-D6A068E5B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51787-D415-4597-836C-BBB5D52CCA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0055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3E41E2-950B-B933-9A15-E60B2D57E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5A6EDB-D33C-E08B-9D84-946296702F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7EC735-3A5C-863A-9138-65231DFC0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73AF33-02E8-4DCD-977D-6D89AD3CC8C6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116851-C5BD-651F-FFD7-390E80739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2A4CE4-EA46-4C6D-9C8B-2E98C4038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51787-D415-4597-836C-BBB5D52CCA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94173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1238D1-E600-07D4-2988-FC8F809A5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0EC539-99E3-4A28-BC8B-8D31C783CA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8F49BE2-8A86-8956-87A9-551CC6794E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86F70F8-96DF-8A21-A902-57A15CC21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73AF33-02E8-4DCD-977D-6D89AD3CC8C6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E0190D-4534-20D4-E0CA-1AE90425C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2DC23C-272F-3834-C6A7-3688036AB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51787-D415-4597-836C-BBB5D52CCA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58853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E1A950-80E9-FEED-371D-818B4E2A55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07112E2-B1BB-073D-0682-AA8B0DF1B5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0F74C03-FCE8-D1B7-84C2-D41353C904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2DABE58-8EA1-6259-7493-68431CDF2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0F75B54-50C6-2516-4928-BAE9445FE3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BA8FE77-8DAA-5221-A94F-20C7C9276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73AF33-02E8-4DCD-977D-6D89AD3CC8C6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E79EF2C-4E9C-F096-25E4-C377C05613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4FD2476-6E6B-D8EB-0C03-71F23E400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51787-D415-4597-836C-BBB5D52CCA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3621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2E6EF7-2718-8F01-AC90-14DAFBD45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2F5B7B5-5157-C07C-E2DA-0BC714ADC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73AF33-02E8-4DCD-977D-6D89AD3CC8C6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C91C812-58CB-7BF4-1158-8E63DAF06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F57221B-3803-2678-13B2-A878E87BC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51787-D415-4597-836C-BBB5D52CCA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6604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9111614-EA17-154A-C8CA-6B37B2F9D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73AF33-02E8-4DCD-977D-6D89AD3CC8C6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4631BAC-28D5-9472-F487-19E45CFE3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A9D02B6-B275-19E9-B059-ED80639B9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51787-D415-4597-836C-BBB5D52CCA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3409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76663-245E-5284-088D-222F113387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DA753A-3BC6-A3F2-8C3E-0166A3640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4235F58-8C51-7E9A-380E-96F5ACADF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81A894-67DE-9A75-7C4C-520F027E3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73AF33-02E8-4DCD-977D-6D89AD3CC8C6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FA11D4A-3ADD-4196-BBA4-7D869CF7D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4A585CC-2FAC-F2C1-DE9E-57E104EDD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51787-D415-4597-836C-BBB5D52CCA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8535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B8C016-A8B8-3479-5232-BB369B433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923365A-E12D-5947-E42A-C60EED5B50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9B0B3EA-6114-EC46-4C8D-407FD869E4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6EDA117-A7EF-F0F2-D886-9B8D7C5A5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73AF33-02E8-4DCD-977D-6D89AD3CC8C6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41B1EA-E3BB-721F-757C-8872ABF1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EFDAB31-B2B3-0C93-94C1-DE0F449EA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51787-D415-4597-836C-BBB5D52CCA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03828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FDE57F-BFBB-1A17-35E5-266255BA0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6DCB3B3-71FD-F6F6-6BD6-46CD1F7227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A4BF1B-BD2A-0E13-92E1-9212966CF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73AF33-02E8-4DCD-977D-6D89AD3CC8C6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0BDE9E-9096-45C4-5ABB-D5F15BA4D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85624D3-3BAF-707D-57AD-E457E73F9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51787-D415-4597-836C-BBB5D52CCA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0995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152F633-49C5-1ACF-49AC-49AA902D2B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16B2504-A643-2782-22E8-620611F94A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FFA64C4-A798-EC3B-D027-254614994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73AF33-02E8-4DCD-977D-6D89AD3CC8C6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00CC05-23CA-C815-7A7D-88DA4B849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DE8BBB-0DEA-2072-9F9C-DFF52BAD4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51787-D415-4597-836C-BBB5D52CCA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7661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7613842-D9D0-9DC8-8FE6-CE32301577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20B4298-7CE6-6978-CF1A-9162E6975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D4E394-B41F-290A-6BF0-243D3DFDD0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73AF33-02E8-4DCD-977D-6D89AD3CC8C6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BEEB0D-780F-2E5E-16E0-96CC783F6E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F2C5BD-F8C3-D54E-50D4-AB08B836E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851787-D415-4597-836C-BBB5D52CCA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3518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B7A2D43-312B-D42A-A4C6-CB080DC6C9EE}"/>
              </a:ext>
            </a:extLst>
          </p:cNvPr>
          <p:cNvSpPr/>
          <p:nvPr/>
        </p:nvSpPr>
        <p:spPr>
          <a:xfrm>
            <a:off x="431800" y="4064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C948461-1D34-F9A5-B3B7-09688D187C8B}"/>
              </a:ext>
            </a:extLst>
          </p:cNvPr>
          <p:cNvSpPr txBox="1"/>
          <p:nvPr/>
        </p:nvSpPr>
        <p:spPr>
          <a:xfrm>
            <a:off x="685800" y="330200"/>
            <a:ext cx="8255000" cy="425758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en-US" altLang="ko-KR" sz="2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Daily Pattern Tool Call </a:t>
            </a:r>
            <a:r>
              <a:rPr lang="ko-KR" altLang="en-US" sz="2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누락 이슈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6173536-BA96-2626-FE95-00762A3B1F81}"/>
              </a:ext>
            </a:extLst>
          </p:cNvPr>
          <p:cNvSpPr txBox="1"/>
          <p:nvPr/>
        </p:nvSpPr>
        <p:spPr>
          <a:xfrm>
            <a:off x="698500" y="787400"/>
            <a:ext cx="9652000" cy="256480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ko-KR" altLang="en-US" sz="10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분석은 성공했지만 정책 후보 확인 알림 생성이 멈춘 사례</a:t>
            </a: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171F5979-DD8A-555E-8E0C-C119D1254F99}"/>
              </a:ext>
            </a:extLst>
          </p:cNvPr>
          <p:cNvCxnSpPr/>
          <p:nvPr/>
        </p:nvCxnSpPr>
        <p:spPr>
          <a:xfrm>
            <a:off x="431800" y="1219200"/>
            <a:ext cx="1127760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Main">
            <a:extLst>
              <a:ext uri="{FF2B5EF4-FFF2-40B4-BE49-F238E27FC236}">
                <a16:creationId xmlns:a16="http://schemas.microsoft.com/office/drawing/2014/main" id="{91545C4C-105E-0186-92B5-01C8AE87B573}"/>
              </a:ext>
            </a:extLst>
          </p:cNvPr>
          <p:cNvSpPr txBox="1"/>
          <p:nvPr/>
        </p:nvSpPr>
        <p:spPr>
          <a:xfrm>
            <a:off x="685800" y="1549400"/>
            <a:ext cx="10668000" cy="718145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ko-KR" altLang="en-US" sz="20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패턴 분석과 후보 생성은 완료됐지만</a:t>
            </a:r>
            <a:r>
              <a:rPr lang="en-US" altLang="ko-KR" sz="20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,</a:t>
            </a:r>
          </a:p>
          <a:p>
            <a:r>
              <a:rPr lang="ko-KR" altLang="en-US" sz="20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최종 후보 알림을 만드는 </a:t>
            </a:r>
            <a:r>
              <a:rPr lang="en-US" altLang="ko-KR" sz="20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Tool call</a:t>
            </a:r>
            <a:r>
              <a:rPr lang="ko-KR" altLang="en-US" sz="20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이 비어 제품 흐름이 끊겼다</a:t>
            </a:r>
            <a:r>
              <a:rPr lang="en-US" altLang="ko-KR" sz="20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.</a:t>
            </a:r>
            <a:endParaRPr lang="ko-KR" altLang="en-US" sz="2000" b="1">
              <a:solidFill>
                <a:srgbClr val="111827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C02D7B49-74ED-793D-457A-DB2D37EE39B5}"/>
              </a:ext>
            </a:extLst>
          </p:cNvPr>
          <p:cNvSpPr/>
          <p:nvPr/>
        </p:nvSpPr>
        <p:spPr>
          <a:xfrm>
            <a:off x="685800" y="2895600"/>
            <a:ext cx="1117600" cy="30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ko-KR" altLang="en-US" sz="900" b="1">
                <a:solidFill>
                  <a:srgbClr val="2563E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복약 기록</a:t>
            </a:r>
          </a:p>
        </p:txBody>
      </p:sp>
      <p:sp>
        <p:nvSpPr>
          <p:cNvPr id="8" name="Metric">
            <a:extLst>
              <a:ext uri="{FF2B5EF4-FFF2-40B4-BE49-F238E27FC236}">
                <a16:creationId xmlns:a16="http://schemas.microsoft.com/office/drawing/2014/main" id="{5E488D7D-2D5F-1ED7-C082-257A97C549E6}"/>
              </a:ext>
            </a:extLst>
          </p:cNvPr>
          <p:cNvSpPr/>
          <p:nvPr/>
        </p:nvSpPr>
        <p:spPr>
          <a:xfrm>
            <a:off x="685800" y="3352800"/>
            <a:ext cx="2336800" cy="109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en-US" altLang="ko-KR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3</a:t>
            </a:r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회 미복용</a:t>
            </a:r>
          </a:p>
          <a:p>
            <a:pPr algn="ctr"/>
            <a:endParaRPr lang="ko-KR" altLang="en-US" sz="1100" b="1">
              <a:solidFill>
                <a:srgbClr val="111827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ctr"/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아침 </a:t>
            </a:r>
            <a:r>
              <a:rPr lang="en-US" altLang="ko-KR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08:00 / </a:t>
            </a:r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점심 </a:t>
            </a:r>
            <a:r>
              <a:rPr lang="en-US" altLang="ko-KR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13:00 / </a:t>
            </a:r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야간 </a:t>
            </a:r>
            <a:r>
              <a:rPr lang="en-US" altLang="ko-KR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21:00</a:t>
            </a:r>
            <a:endParaRPr lang="ko-KR" altLang="en-US" sz="1100" b="1">
              <a:solidFill>
                <a:srgbClr val="111827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ABB05CE-4B60-EA2C-30E1-7FD1DE428FD7}"/>
              </a:ext>
            </a:extLst>
          </p:cNvPr>
          <p:cNvSpPr/>
          <p:nvPr/>
        </p:nvSpPr>
        <p:spPr>
          <a:xfrm>
            <a:off x="3505200" y="2895600"/>
            <a:ext cx="1117600" cy="30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ko-KR" altLang="en-US" sz="900" b="1">
                <a:solidFill>
                  <a:srgbClr val="16A34A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분석 결과</a:t>
            </a:r>
          </a:p>
        </p:txBody>
      </p:sp>
      <p:sp>
        <p:nvSpPr>
          <p:cNvPr id="10" name="Metric">
            <a:extLst>
              <a:ext uri="{FF2B5EF4-FFF2-40B4-BE49-F238E27FC236}">
                <a16:creationId xmlns:a16="http://schemas.microsoft.com/office/drawing/2014/main" id="{808FA669-E06E-8EDE-357D-F62A0D225D89}"/>
              </a:ext>
            </a:extLst>
          </p:cNvPr>
          <p:cNvSpPr/>
          <p:nvPr/>
        </p:nvSpPr>
        <p:spPr>
          <a:xfrm>
            <a:off x="3505200" y="3352800"/>
            <a:ext cx="2336800" cy="109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후보 </a:t>
            </a:r>
            <a:r>
              <a:rPr lang="en-US" altLang="ko-KR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3</a:t>
            </a:r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개 생성</a:t>
            </a:r>
          </a:p>
          <a:p>
            <a:pPr algn="ctr"/>
            <a:endParaRPr lang="ko-KR" altLang="en-US" sz="1100" b="1">
              <a:solidFill>
                <a:srgbClr val="111827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ctr"/>
            <a:r>
              <a:rPr lang="en-US" altLang="ko-KR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schema recovery </a:t>
            </a:r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후 </a:t>
            </a:r>
            <a:r>
              <a:rPr lang="en-US" altLang="ko-KR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suggested_policies </a:t>
            </a:r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정상 생성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BC88F295-B81F-E428-B189-22C6CC1CC656}"/>
              </a:ext>
            </a:extLst>
          </p:cNvPr>
          <p:cNvSpPr/>
          <p:nvPr/>
        </p:nvSpPr>
        <p:spPr>
          <a:xfrm>
            <a:off x="6324600" y="2895600"/>
            <a:ext cx="1117600" cy="30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ko-KR" altLang="en-US" sz="900" b="1">
                <a:solidFill>
                  <a:srgbClr val="DC2626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누락 지점</a:t>
            </a:r>
          </a:p>
        </p:txBody>
      </p:sp>
      <p:sp>
        <p:nvSpPr>
          <p:cNvPr id="12" name="Metric">
            <a:extLst>
              <a:ext uri="{FF2B5EF4-FFF2-40B4-BE49-F238E27FC236}">
                <a16:creationId xmlns:a16="http://schemas.microsoft.com/office/drawing/2014/main" id="{CE8F8DBA-1B5D-081D-BD01-E048DD4D7394}"/>
              </a:ext>
            </a:extLst>
          </p:cNvPr>
          <p:cNvSpPr/>
          <p:nvPr/>
        </p:nvSpPr>
        <p:spPr>
          <a:xfrm>
            <a:off x="6324600" y="3352800"/>
            <a:ext cx="2336800" cy="109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en-US" altLang="ko-KR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Tool call 0</a:t>
            </a:r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개</a:t>
            </a:r>
          </a:p>
          <a:p>
            <a:pPr algn="ctr"/>
            <a:endParaRPr lang="ko-KR" altLang="en-US" sz="1100" b="1">
              <a:solidFill>
                <a:srgbClr val="111827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ctr"/>
            <a:r>
              <a:rPr lang="en-US" altLang="ko-KR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apply_notification_policy</a:t>
            </a:r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가 반환되지 않음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F4A1E47-6271-88F8-06D0-88D1D6249C93}"/>
              </a:ext>
            </a:extLst>
          </p:cNvPr>
          <p:cNvSpPr/>
          <p:nvPr/>
        </p:nvSpPr>
        <p:spPr>
          <a:xfrm>
            <a:off x="9144000" y="2895600"/>
            <a:ext cx="1117600" cy="30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ko-KR" altLang="en-US" sz="900" b="1">
                <a:solidFill>
                  <a:srgbClr val="D97706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사용자 영향</a:t>
            </a:r>
          </a:p>
        </p:txBody>
      </p:sp>
      <p:sp>
        <p:nvSpPr>
          <p:cNvPr id="14" name="Metric">
            <a:extLst>
              <a:ext uri="{FF2B5EF4-FFF2-40B4-BE49-F238E27FC236}">
                <a16:creationId xmlns:a16="http://schemas.microsoft.com/office/drawing/2014/main" id="{1B04853C-6199-9A40-6C8F-496C8D1A0DC0}"/>
              </a:ext>
            </a:extLst>
          </p:cNvPr>
          <p:cNvSpPr/>
          <p:nvPr/>
        </p:nvSpPr>
        <p:spPr>
          <a:xfrm>
            <a:off x="9144000" y="3352800"/>
            <a:ext cx="2336800" cy="109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알림 미생성</a:t>
            </a:r>
          </a:p>
          <a:p>
            <a:pPr algn="ctr"/>
            <a:endParaRPr lang="ko-KR" altLang="en-US" sz="1100" b="1">
              <a:solidFill>
                <a:srgbClr val="111827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ctr"/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자동 정책 조정 확인 흐름 중단</a:t>
            </a:r>
          </a:p>
        </p:txBody>
      </p:sp>
      <p:sp>
        <p:nvSpPr>
          <p:cNvPr id="15" name="Takeaway">
            <a:extLst>
              <a:ext uri="{FF2B5EF4-FFF2-40B4-BE49-F238E27FC236}">
                <a16:creationId xmlns:a16="http://schemas.microsoft.com/office/drawing/2014/main" id="{BD4CC01E-46EC-773E-C54B-F5F0C2B1B925}"/>
              </a:ext>
            </a:extLst>
          </p:cNvPr>
          <p:cNvSpPr/>
          <p:nvPr/>
        </p:nvSpPr>
        <p:spPr>
          <a:xfrm>
            <a:off x="1041400" y="5334000"/>
            <a:ext cx="10109200" cy="63500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ko-KR" altLang="en-US" sz="12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핵심은 </a:t>
            </a:r>
            <a:r>
              <a:rPr lang="en-US" altLang="ko-KR" sz="12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'</a:t>
            </a:r>
            <a:r>
              <a:rPr lang="ko-KR" altLang="en-US" sz="12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분석 실패</a:t>
            </a:r>
            <a:r>
              <a:rPr lang="en-US" altLang="ko-KR" sz="12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'</a:t>
            </a:r>
            <a:r>
              <a:rPr lang="ko-KR" altLang="en-US" sz="12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가 아니라 </a:t>
            </a:r>
            <a:r>
              <a:rPr lang="en-US" altLang="ko-KR" sz="12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'</a:t>
            </a:r>
            <a:r>
              <a:rPr lang="ko-KR" altLang="en-US" sz="12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후보를 실행 가능한 제품 액션으로 전환하지 못한 판단 기준</a:t>
            </a:r>
            <a:r>
              <a:rPr lang="en-US" altLang="ko-KR" sz="12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'</a:t>
            </a:r>
            <a:r>
              <a:rPr lang="ko-KR" altLang="en-US" sz="12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이다</a:t>
            </a:r>
            <a:r>
              <a:rPr lang="en-US" altLang="ko-KR" sz="12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.</a:t>
            </a:r>
            <a:endParaRPr lang="ko-KR" altLang="en-US" sz="1200" b="1">
              <a:solidFill>
                <a:srgbClr val="111827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6" name="Footer">
            <a:extLst>
              <a:ext uri="{FF2B5EF4-FFF2-40B4-BE49-F238E27FC236}">
                <a16:creationId xmlns:a16="http://schemas.microsoft.com/office/drawing/2014/main" id="{409060BE-E522-2936-986A-E4F78B1CD271}"/>
              </a:ext>
            </a:extLst>
          </p:cNvPr>
          <p:cNvSpPr txBox="1"/>
          <p:nvPr/>
        </p:nvSpPr>
        <p:spPr>
          <a:xfrm>
            <a:off x="495300" y="6540500"/>
            <a:ext cx="8763000" cy="225703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en-US" altLang="ko-KR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Daily pattern </a:t>
            </a:r>
            <a:r>
              <a:rPr lang="ko-KR" altLang="en-US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정책 후보 </a:t>
            </a:r>
            <a:r>
              <a:rPr lang="en-US" altLang="ko-KR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Tool call </a:t>
            </a:r>
            <a:r>
              <a:rPr lang="ko-KR" altLang="en-US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누락 이슈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BE4A6083-BBAA-C64D-7920-82F4FD90604E}"/>
              </a:ext>
            </a:extLst>
          </p:cNvPr>
          <p:cNvSpPr txBox="1"/>
          <p:nvPr/>
        </p:nvSpPr>
        <p:spPr>
          <a:xfrm>
            <a:off x="11074400" y="6540500"/>
            <a:ext cx="635000" cy="225703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pPr algn="r"/>
            <a:r>
              <a:rPr lang="en-US" altLang="ko-KR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1/6</a:t>
            </a:r>
            <a:endParaRPr lang="ko-KR" altLang="en-US" sz="800">
              <a:solidFill>
                <a:srgbClr val="64748B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41905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90FA276-307F-B6FC-2848-1B4AAFC68B34}"/>
              </a:ext>
            </a:extLst>
          </p:cNvPr>
          <p:cNvSpPr/>
          <p:nvPr/>
        </p:nvSpPr>
        <p:spPr>
          <a:xfrm>
            <a:off x="431800" y="4064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A3409BC-4883-6798-9871-4DAE2A6FA5A7}"/>
              </a:ext>
            </a:extLst>
          </p:cNvPr>
          <p:cNvSpPr txBox="1"/>
          <p:nvPr/>
        </p:nvSpPr>
        <p:spPr>
          <a:xfrm>
            <a:off x="685800" y="330200"/>
            <a:ext cx="8255000" cy="425758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ko-KR" altLang="en-US" sz="2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관찰된 현상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8FF9F85D-FBF1-6D45-77AB-0D7087D71477}"/>
              </a:ext>
            </a:extLst>
          </p:cNvPr>
          <p:cNvSpPr txBox="1"/>
          <p:nvPr/>
        </p:nvSpPr>
        <p:spPr>
          <a:xfrm>
            <a:off x="698500" y="787400"/>
            <a:ext cx="9652000" cy="256480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ko-KR" altLang="en-US" sz="10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후보는 있었지만 실행 가능한 </a:t>
            </a:r>
            <a:r>
              <a:rPr lang="en-US" altLang="ko-KR" sz="10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Tool call</a:t>
            </a:r>
            <a:r>
              <a:rPr lang="ko-KR" altLang="en-US" sz="10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이 없었다</a:t>
            </a: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F59DCF9A-F0D0-4793-81D7-A8FFA7B83349}"/>
              </a:ext>
            </a:extLst>
          </p:cNvPr>
          <p:cNvCxnSpPr/>
          <p:nvPr/>
        </p:nvCxnSpPr>
        <p:spPr>
          <a:xfrm>
            <a:off x="431800" y="1219200"/>
            <a:ext cx="1127760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57F45E8-4899-0CBC-6E32-66508D1BD294}"/>
              </a:ext>
            </a:extLst>
          </p:cNvPr>
          <p:cNvSpPr/>
          <p:nvPr/>
        </p:nvSpPr>
        <p:spPr>
          <a:xfrm>
            <a:off x="736600" y="1625600"/>
            <a:ext cx="787400" cy="30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ko-KR" altLang="en-US" sz="900" b="1">
                <a:solidFill>
                  <a:srgbClr val="16A34A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정상</a:t>
            </a:r>
          </a:p>
        </p:txBody>
      </p:sp>
      <p:sp>
        <p:nvSpPr>
          <p:cNvPr id="7" name="Column Heading">
            <a:extLst>
              <a:ext uri="{FF2B5EF4-FFF2-40B4-BE49-F238E27FC236}">
                <a16:creationId xmlns:a16="http://schemas.microsoft.com/office/drawing/2014/main" id="{D3835070-B08A-430A-312C-38CAF4745C22}"/>
              </a:ext>
            </a:extLst>
          </p:cNvPr>
          <p:cNvSpPr txBox="1"/>
          <p:nvPr/>
        </p:nvSpPr>
        <p:spPr>
          <a:xfrm>
            <a:off x="736600" y="2159000"/>
            <a:ext cx="2921000" cy="302647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ko-KR" altLang="en-US" sz="13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분석</a:t>
            </a:r>
            <a:r>
              <a:rPr lang="en-US" altLang="ko-KR" sz="13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/</a:t>
            </a:r>
            <a:r>
              <a:rPr lang="ko-KR" altLang="en-US" sz="13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후보 생성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2268AF2-12F5-B306-ADBD-30CD77292C37}"/>
              </a:ext>
            </a:extLst>
          </p:cNvPr>
          <p:cNvCxnSpPr/>
          <p:nvPr/>
        </p:nvCxnSpPr>
        <p:spPr>
          <a:xfrm>
            <a:off x="736600" y="2603500"/>
            <a:ext cx="297180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Column Body">
            <a:extLst>
              <a:ext uri="{FF2B5EF4-FFF2-40B4-BE49-F238E27FC236}">
                <a16:creationId xmlns:a16="http://schemas.microsoft.com/office/drawing/2014/main" id="{94D76A2A-AEB3-6502-B5B9-84E902A2C77F}"/>
              </a:ext>
            </a:extLst>
          </p:cNvPr>
          <p:cNvSpPr/>
          <p:nvPr/>
        </p:nvSpPr>
        <p:spPr>
          <a:xfrm>
            <a:off x="736600" y="2870200"/>
            <a:ext cx="2971800" cy="1676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summary: 2026-04-20 </a:t>
            </a:r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총 </a:t>
            </a:r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3</a:t>
            </a:r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회 미복용</a:t>
            </a:r>
          </a:p>
          <a:p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repeated_missed_slots: 3</a:t>
            </a:r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개 시간대</a:t>
            </a:r>
          </a:p>
          <a:p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suggested_policy_count: 3</a:t>
            </a:r>
            <a:endParaRPr lang="ko-KR" altLang="en-US" sz="1000">
              <a:solidFill>
                <a:srgbClr val="111827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344A281-CE2B-397E-3C29-B777D7BB76CA}"/>
              </a:ext>
            </a:extLst>
          </p:cNvPr>
          <p:cNvSpPr/>
          <p:nvPr/>
        </p:nvSpPr>
        <p:spPr>
          <a:xfrm>
            <a:off x="4241800" y="1625600"/>
            <a:ext cx="787400" cy="30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ko-KR" altLang="en-US" sz="900" b="1">
                <a:solidFill>
                  <a:srgbClr val="DC2626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문제</a:t>
            </a:r>
          </a:p>
        </p:txBody>
      </p:sp>
      <p:sp>
        <p:nvSpPr>
          <p:cNvPr id="11" name="Column Heading">
            <a:extLst>
              <a:ext uri="{FF2B5EF4-FFF2-40B4-BE49-F238E27FC236}">
                <a16:creationId xmlns:a16="http://schemas.microsoft.com/office/drawing/2014/main" id="{D8EE0C7E-478E-FE5E-F519-4DE47E54FF4D}"/>
              </a:ext>
            </a:extLst>
          </p:cNvPr>
          <p:cNvSpPr txBox="1"/>
          <p:nvPr/>
        </p:nvSpPr>
        <p:spPr>
          <a:xfrm>
            <a:off x="4241800" y="2159000"/>
            <a:ext cx="2921000" cy="302647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en-US" altLang="ko-KR" sz="13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policy_planner </a:t>
            </a:r>
            <a:r>
              <a:rPr lang="ko-KR" altLang="en-US" sz="13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응답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FB81D544-A8FD-EED3-D01A-8D958C92F971}"/>
              </a:ext>
            </a:extLst>
          </p:cNvPr>
          <p:cNvCxnSpPr/>
          <p:nvPr/>
        </p:nvCxnSpPr>
        <p:spPr>
          <a:xfrm>
            <a:off x="4241800" y="2603500"/>
            <a:ext cx="297180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olumn Body">
            <a:extLst>
              <a:ext uri="{FF2B5EF4-FFF2-40B4-BE49-F238E27FC236}">
                <a16:creationId xmlns:a16="http://schemas.microsoft.com/office/drawing/2014/main" id="{540C17A2-41E3-78E2-C9E0-31396E5C286A}"/>
              </a:ext>
            </a:extLst>
          </p:cNvPr>
          <p:cNvSpPr/>
          <p:nvPr/>
        </p:nvSpPr>
        <p:spPr>
          <a:xfrm>
            <a:off x="4241800" y="2870200"/>
            <a:ext cx="2971800" cy="1676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tool_calls: []</a:t>
            </a:r>
          </a:p>
          <a:p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needs_clarification: 3</a:t>
            </a:r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개</a:t>
            </a:r>
          </a:p>
          <a:p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advice: </a:t>
            </a:r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의료진 상담 우선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8018B67-875B-B5B4-FC95-00C36E410D51}"/>
              </a:ext>
            </a:extLst>
          </p:cNvPr>
          <p:cNvSpPr/>
          <p:nvPr/>
        </p:nvSpPr>
        <p:spPr>
          <a:xfrm>
            <a:off x="7747000" y="1625600"/>
            <a:ext cx="787400" cy="30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ko-KR" altLang="en-US" sz="900" b="1">
                <a:solidFill>
                  <a:srgbClr val="D97706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로그</a:t>
            </a:r>
          </a:p>
        </p:txBody>
      </p:sp>
      <p:sp>
        <p:nvSpPr>
          <p:cNvPr id="15" name="Column Heading">
            <a:extLst>
              <a:ext uri="{FF2B5EF4-FFF2-40B4-BE49-F238E27FC236}">
                <a16:creationId xmlns:a16="http://schemas.microsoft.com/office/drawing/2014/main" id="{D957D5B5-E2B5-E93B-1583-035438750332}"/>
              </a:ext>
            </a:extLst>
          </p:cNvPr>
          <p:cNvSpPr txBox="1"/>
          <p:nvPr/>
        </p:nvSpPr>
        <p:spPr>
          <a:xfrm>
            <a:off x="7747000" y="2159000"/>
            <a:ext cx="2921000" cy="302647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ko-KR" altLang="en-US" sz="13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서버 결과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56E7A94-57B3-1485-AB37-8EA7486EA3AC}"/>
              </a:ext>
            </a:extLst>
          </p:cNvPr>
          <p:cNvCxnSpPr/>
          <p:nvPr/>
        </p:nvCxnSpPr>
        <p:spPr>
          <a:xfrm>
            <a:off x="7747000" y="2603500"/>
            <a:ext cx="297180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olumn Body">
            <a:extLst>
              <a:ext uri="{FF2B5EF4-FFF2-40B4-BE49-F238E27FC236}">
                <a16:creationId xmlns:a16="http://schemas.microsoft.com/office/drawing/2014/main" id="{10B522F7-1F42-1A5C-E400-FFF1A78CF485}"/>
              </a:ext>
            </a:extLst>
          </p:cNvPr>
          <p:cNvSpPr/>
          <p:nvPr/>
        </p:nvSpPr>
        <p:spPr>
          <a:xfrm>
            <a:off x="7747000" y="2870200"/>
            <a:ext cx="2971800" cy="1676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daily_pattern_policy_tool_call_missing</a:t>
            </a:r>
          </a:p>
          <a:p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tools_executed: false</a:t>
            </a:r>
          </a:p>
          <a:p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decision: pattern_policy_recommendation</a:t>
            </a:r>
            <a:endParaRPr lang="ko-KR" altLang="en-US" sz="1000">
              <a:solidFill>
                <a:srgbClr val="111827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8" name="Finding">
            <a:extLst>
              <a:ext uri="{FF2B5EF4-FFF2-40B4-BE49-F238E27FC236}">
                <a16:creationId xmlns:a16="http://schemas.microsoft.com/office/drawing/2014/main" id="{50ED1CEF-9D0F-8897-B9E6-D64AFC6113F2}"/>
              </a:ext>
            </a:extLst>
          </p:cNvPr>
          <p:cNvSpPr txBox="1"/>
          <p:nvPr/>
        </p:nvSpPr>
        <p:spPr>
          <a:xfrm>
            <a:off x="1016000" y="5334000"/>
            <a:ext cx="10160000" cy="318036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실패 지점은 패턴 분석이 아니라 정책 후보를 알림 후보로 넘기는 마지막 판단 단계다</a:t>
            </a:r>
            <a:r>
              <a:rPr lang="en-US" altLang="ko-KR" sz="14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.</a:t>
            </a:r>
            <a:endParaRPr lang="ko-KR" altLang="en-US" sz="1400" b="1">
              <a:solidFill>
                <a:srgbClr val="111827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9" name="Footer">
            <a:extLst>
              <a:ext uri="{FF2B5EF4-FFF2-40B4-BE49-F238E27FC236}">
                <a16:creationId xmlns:a16="http://schemas.microsoft.com/office/drawing/2014/main" id="{8A712E13-D6E0-2E30-90A2-258F3F04DDCA}"/>
              </a:ext>
            </a:extLst>
          </p:cNvPr>
          <p:cNvSpPr txBox="1"/>
          <p:nvPr/>
        </p:nvSpPr>
        <p:spPr>
          <a:xfrm>
            <a:off x="495300" y="6540500"/>
            <a:ext cx="8763000" cy="225703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ko-KR" altLang="en-US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비개발 관점</a:t>
            </a:r>
            <a:r>
              <a:rPr lang="en-US" altLang="ko-KR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: </a:t>
            </a:r>
            <a:r>
              <a:rPr lang="ko-KR" altLang="en-US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데이터는 준비됐지만 제품 액션으로 전환되지 않은 상태</a:t>
            </a:r>
          </a:p>
        </p:txBody>
      </p:sp>
      <p:sp>
        <p:nvSpPr>
          <p:cNvPr id="20" name="Slide Number">
            <a:extLst>
              <a:ext uri="{FF2B5EF4-FFF2-40B4-BE49-F238E27FC236}">
                <a16:creationId xmlns:a16="http://schemas.microsoft.com/office/drawing/2014/main" id="{F0620995-508A-3358-EAE0-967A18EAF423}"/>
              </a:ext>
            </a:extLst>
          </p:cNvPr>
          <p:cNvSpPr txBox="1"/>
          <p:nvPr/>
        </p:nvSpPr>
        <p:spPr>
          <a:xfrm>
            <a:off x="11074400" y="6540500"/>
            <a:ext cx="635000" cy="225703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pPr algn="r"/>
            <a:r>
              <a:rPr lang="en-US" altLang="ko-KR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2/6</a:t>
            </a:r>
            <a:endParaRPr lang="ko-KR" altLang="en-US" sz="800">
              <a:solidFill>
                <a:srgbClr val="64748B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912792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B207AD9-7494-3829-3E38-F0BC2ADD8AB2}"/>
              </a:ext>
            </a:extLst>
          </p:cNvPr>
          <p:cNvSpPr/>
          <p:nvPr/>
        </p:nvSpPr>
        <p:spPr>
          <a:xfrm>
            <a:off x="431800" y="4064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5315EC7-F389-AB00-AAA5-0947E719DD25}"/>
              </a:ext>
            </a:extLst>
          </p:cNvPr>
          <p:cNvSpPr txBox="1"/>
          <p:nvPr/>
        </p:nvSpPr>
        <p:spPr>
          <a:xfrm>
            <a:off x="685800" y="330200"/>
            <a:ext cx="8255000" cy="425758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ko-KR" altLang="en-US" sz="2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현재 처리 흐름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21DAD41B-2988-821E-65D1-EEADF9BB3AD1}"/>
              </a:ext>
            </a:extLst>
          </p:cNvPr>
          <p:cNvSpPr txBox="1"/>
          <p:nvPr/>
        </p:nvSpPr>
        <p:spPr>
          <a:xfrm>
            <a:off x="698500" y="787400"/>
            <a:ext cx="9652000" cy="256480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en-US" altLang="ko-KR" sz="10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suggested_policies</a:t>
            </a:r>
            <a:r>
              <a:rPr lang="ko-KR" altLang="en-US" sz="10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만으로는 알림이 만들어지지 않는다</a:t>
            </a: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56F857E-17DB-B911-4595-8AACC76A2271}"/>
              </a:ext>
            </a:extLst>
          </p:cNvPr>
          <p:cNvCxnSpPr/>
          <p:nvPr/>
        </p:nvCxnSpPr>
        <p:spPr>
          <a:xfrm>
            <a:off x="431800" y="1219200"/>
            <a:ext cx="1127760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No">
            <a:extLst>
              <a:ext uri="{FF2B5EF4-FFF2-40B4-BE49-F238E27FC236}">
                <a16:creationId xmlns:a16="http://schemas.microsoft.com/office/drawing/2014/main" id="{58ABF9BA-5793-9970-977F-845E5CD99415}"/>
              </a:ext>
            </a:extLst>
          </p:cNvPr>
          <p:cNvSpPr txBox="1"/>
          <p:nvPr/>
        </p:nvSpPr>
        <p:spPr>
          <a:xfrm>
            <a:off x="660400" y="1676400"/>
            <a:ext cx="533400" cy="256480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en-US" altLang="ko-KR" sz="1000" b="1">
                <a:solidFill>
                  <a:srgbClr val="2563E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01</a:t>
            </a:r>
            <a:endParaRPr lang="ko-KR" altLang="en-US" sz="1000" b="1">
              <a:solidFill>
                <a:srgbClr val="2563EB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7" name="Step">
            <a:extLst>
              <a:ext uri="{FF2B5EF4-FFF2-40B4-BE49-F238E27FC236}">
                <a16:creationId xmlns:a16="http://schemas.microsoft.com/office/drawing/2014/main" id="{E0AD9DD0-E425-85FF-217E-B0E0C11491F4}"/>
              </a:ext>
            </a:extLst>
          </p:cNvPr>
          <p:cNvSpPr/>
          <p:nvPr/>
        </p:nvSpPr>
        <p:spPr>
          <a:xfrm>
            <a:off x="660400" y="2006600"/>
            <a:ext cx="1739900" cy="1092200"/>
          </a:xfrm>
          <a:prstGeom prst="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ko-KR" altLang="en-US" sz="10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패턴 분석</a:t>
            </a:r>
          </a:p>
          <a:p>
            <a:pPr algn="ctr"/>
            <a:r>
              <a:rPr lang="en-US" altLang="ko-KR" sz="10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pattern_analyzer</a:t>
            </a:r>
            <a:endParaRPr lang="ko-KR" altLang="en-US" sz="1000" b="1">
              <a:solidFill>
                <a:srgbClr val="111827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A7DC0E6-E094-6931-463C-6A28B705B1FD}"/>
              </a:ext>
            </a:extLst>
          </p:cNvPr>
          <p:cNvCxnSpPr/>
          <p:nvPr/>
        </p:nvCxnSpPr>
        <p:spPr>
          <a:xfrm>
            <a:off x="2400300" y="2552700"/>
            <a:ext cx="393700" cy="0"/>
          </a:xfrm>
          <a:prstGeom prst="line">
            <a:avLst/>
          </a:prstGeom>
          <a:ln w="15875">
            <a:solidFill>
              <a:srgbClr val="CBD5E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tep No">
            <a:extLst>
              <a:ext uri="{FF2B5EF4-FFF2-40B4-BE49-F238E27FC236}">
                <a16:creationId xmlns:a16="http://schemas.microsoft.com/office/drawing/2014/main" id="{4DB0688F-A2CD-1659-1883-E9A7D417FC85}"/>
              </a:ext>
            </a:extLst>
          </p:cNvPr>
          <p:cNvSpPr txBox="1"/>
          <p:nvPr/>
        </p:nvSpPr>
        <p:spPr>
          <a:xfrm>
            <a:off x="2895600" y="1676400"/>
            <a:ext cx="533400" cy="256480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en-US" altLang="ko-KR" sz="1000" b="1">
                <a:solidFill>
                  <a:srgbClr val="2563E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02</a:t>
            </a:r>
            <a:endParaRPr lang="ko-KR" altLang="en-US" sz="1000" b="1">
              <a:solidFill>
                <a:srgbClr val="2563EB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0" name="Step">
            <a:extLst>
              <a:ext uri="{FF2B5EF4-FFF2-40B4-BE49-F238E27FC236}">
                <a16:creationId xmlns:a16="http://schemas.microsoft.com/office/drawing/2014/main" id="{527FB62A-E636-F42A-E5D6-D6522B9F3F60}"/>
              </a:ext>
            </a:extLst>
          </p:cNvPr>
          <p:cNvSpPr/>
          <p:nvPr/>
        </p:nvSpPr>
        <p:spPr>
          <a:xfrm>
            <a:off x="2895600" y="2006600"/>
            <a:ext cx="1739900" cy="1092200"/>
          </a:xfrm>
          <a:prstGeom prst="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ko-KR" altLang="en-US" sz="10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후보 생성</a:t>
            </a:r>
          </a:p>
          <a:p>
            <a:pPr algn="ctr"/>
            <a:r>
              <a:rPr lang="en-US" altLang="ko-KR" sz="10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suggested_policies</a:t>
            </a:r>
            <a:endParaRPr lang="ko-KR" altLang="en-US" sz="1000" b="1">
              <a:solidFill>
                <a:srgbClr val="111827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99BF3E0-63A7-3CFB-7D29-D265D33BE887}"/>
              </a:ext>
            </a:extLst>
          </p:cNvPr>
          <p:cNvCxnSpPr/>
          <p:nvPr/>
        </p:nvCxnSpPr>
        <p:spPr>
          <a:xfrm>
            <a:off x="4635500" y="2552700"/>
            <a:ext cx="393700" cy="0"/>
          </a:xfrm>
          <a:prstGeom prst="line">
            <a:avLst/>
          </a:prstGeom>
          <a:ln w="15875">
            <a:solidFill>
              <a:srgbClr val="CBD5E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No">
            <a:extLst>
              <a:ext uri="{FF2B5EF4-FFF2-40B4-BE49-F238E27FC236}">
                <a16:creationId xmlns:a16="http://schemas.microsoft.com/office/drawing/2014/main" id="{689E9BF4-5248-F11E-780E-583FBE62B450}"/>
              </a:ext>
            </a:extLst>
          </p:cNvPr>
          <p:cNvSpPr txBox="1"/>
          <p:nvPr/>
        </p:nvSpPr>
        <p:spPr>
          <a:xfrm>
            <a:off x="5130800" y="1676400"/>
            <a:ext cx="533400" cy="256480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en-US" altLang="ko-KR" sz="1000" b="1">
                <a:solidFill>
                  <a:srgbClr val="2563E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03</a:t>
            </a:r>
            <a:endParaRPr lang="ko-KR" altLang="en-US" sz="1000" b="1">
              <a:solidFill>
                <a:srgbClr val="2563EB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3" name="Step">
            <a:extLst>
              <a:ext uri="{FF2B5EF4-FFF2-40B4-BE49-F238E27FC236}">
                <a16:creationId xmlns:a16="http://schemas.microsoft.com/office/drawing/2014/main" id="{6DE33597-CBCB-69EE-9A3B-09822611A767}"/>
              </a:ext>
            </a:extLst>
          </p:cNvPr>
          <p:cNvSpPr/>
          <p:nvPr/>
        </p:nvSpPr>
        <p:spPr>
          <a:xfrm>
            <a:off x="5130800" y="2006600"/>
            <a:ext cx="1739900" cy="1092200"/>
          </a:xfrm>
          <a:prstGeom prst="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ko-KR" altLang="en-US" sz="10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정책 판단</a:t>
            </a:r>
          </a:p>
          <a:p>
            <a:pPr algn="ctr"/>
            <a:r>
              <a:rPr lang="en-US" altLang="ko-KR" sz="10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policy_planner</a:t>
            </a:r>
            <a:endParaRPr lang="ko-KR" altLang="en-US" sz="1000" b="1">
              <a:solidFill>
                <a:srgbClr val="111827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D06824E-C716-B0DB-2453-D0DE47CBD15A}"/>
              </a:ext>
            </a:extLst>
          </p:cNvPr>
          <p:cNvCxnSpPr/>
          <p:nvPr/>
        </p:nvCxnSpPr>
        <p:spPr>
          <a:xfrm>
            <a:off x="6870700" y="2552700"/>
            <a:ext cx="393700" cy="0"/>
          </a:xfrm>
          <a:prstGeom prst="line">
            <a:avLst/>
          </a:prstGeom>
          <a:ln w="15875">
            <a:solidFill>
              <a:srgbClr val="CBD5E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Step No">
            <a:extLst>
              <a:ext uri="{FF2B5EF4-FFF2-40B4-BE49-F238E27FC236}">
                <a16:creationId xmlns:a16="http://schemas.microsoft.com/office/drawing/2014/main" id="{DBD8B6E7-DD34-B7C0-803A-C29963922613}"/>
              </a:ext>
            </a:extLst>
          </p:cNvPr>
          <p:cNvSpPr txBox="1"/>
          <p:nvPr/>
        </p:nvSpPr>
        <p:spPr>
          <a:xfrm>
            <a:off x="7366000" y="1676400"/>
            <a:ext cx="533400" cy="256480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en-US" altLang="ko-KR" sz="1000" b="1">
                <a:solidFill>
                  <a:srgbClr val="DC2626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04</a:t>
            </a:r>
            <a:endParaRPr lang="ko-KR" altLang="en-US" sz="1000" b="1">
              <a:solidFill>
                <a:srgbClr val="DC2626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6" name="Step">
            <a:extLst>
              <a:ext uri="{FF2B5EF4-FFF2-40B4-BE49-F238E27FC236}">
                <a16:creationId xmlns:a16="http://schemas.microsoft.com/office/drawing/2014/main" id="{0B1D6A1A-D729-FAFF-AF69-37D987ABF464}"/>
              </a:ext>
            </a:extLst>
          </p:cNvPr>
          <p:cNvSpPr/>
          <p:nvPr/>
        </p:nvSpPr>
        <p:spPr>
          <a:xfrm>
            <a:off x="7366000" y="2006600"/>
            <a:ext cx="1739900" cy="1092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26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en-US" altLang="ko-KR" sz="10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Tool </a:t>
            </a:r>
            <a:r>
              <a:rPr lang="ko-KR" altLang="en-US" sz="10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추출</a:t>
            </a:r>
          </a:p>
          <a:p>
            <a:pPr algn="ctr"/>
            <a:r>
              <a:rPr lang="en-US" altLang="ko-KR" sz="10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apply_notification_policy</a:t>
            </a:r>
            <a:endParaRPr lang="ko-KR" altLang="en-US" sz="1000" b="1">
              <a:solidFill>
                <a:srgbClr val="111827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E0BDCE6B-86EC-3F67-B863-0D1CAC15F1E1}"/>
              </a:ext>
            </a:extLst>
          </p:cNvPr>
          <p:cNvCxnSpPr/>
          <p:nvPr/>
        </p:nvCxnSpPr>
        <p:spPr>
          <a:xfrm>
            <a:off x="9105900" y="2552700"/>
            <a:ext cx="393700" cy="0"/>
          </a:xfrm>
          <a:prstGeom prst="line">
            <a:avLst/>
          </a:prstGeom>
          <a:ln w="15875">
            <a:solidFill>
              <a:srgbClr val="CBD5E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Step No">
            <a:extLst>
              <a:ext uri="{FF2B5EF4-FFF2-40B4-BE49-F238E27FC236}">
                <a16:creationId xmlns:a16="http://schemas.microsoft.com/office/drawing/2014/main" id="{CD9E68A2-81A7-2BA4-8420-C46DF57632C8}"/>
              </a:ext>
            </a:extLst>
          </p:cNvPr>
          <p:cNvSpPr txBox="1"/>
          <p:nvPr/>
        </p:nvSpPr>
        <p:spPr>
          <a:xfrm>
            <a:off x="9601200" y="1676400"/>
            <a:ext cx="533400" cy="256480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en-US" altLang="ko-KR" sz="1000" b="1">
                <a:solidFill>
                  <a:srgbClr val="2563E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05</a:t>
            </a:r>
            <a:endParaRPr lang="ko-KR" altLang="en-US" sz="1000" b="1">
              <a:solidFill>
                <a:srgbClr val="2563EB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9" name="Step">
            <a:extLst>
              <a:ext uri="{FF2B5EF4-FFF2-40B4-BE49-F238E27FC236}">
                <a16:creationId xmlns:a16="http://schemas.microsoft.com/office/drawing/2014/main" id="{44E674B5-D1F2-E122-3153-791EFA5A5250}"/>
              </a:ext>
            </a:extLst>
          </p:cNvPr>
          <p:cNvSpPr/>
          <p:nvPr/>
        </p:nvSpPr>
        <p:spPr>
          <a:xfrm>
            <a:off x="9601200" y="2006600"/>
            <a:ext cx="1739900" cy="1092200"/>
          </a:xfrm>
          <a:prstGeom prst="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ko-KR" altLang="en-US" sz="10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확인 알림</a:t>
            </a:r>
          </a:p>
          <a:p>
            <a:pPr algn="ctr"/>
            <a:r>
              <a:rPr lang="ko-KR" altLang="en-US" sz="10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환자 확인용 후보</a:t>
            </a:r>
          </a:p>
        </p:txBody>
      </p:sp>
      <p:sp>
        <p:nvSpPr>
          <p:cNvPr id="20" name="Break">
            <a:extLst>
              <a:ext uri="{FF2B5EF4-FFF2-40B4-BE49-F238E27FC236}">
                <a16:creationId xmlns:a16="http://schemas.microsoft.com/office/drawing/2014/main" id="{D2DF9490-88BA-4B9C-F77F-22CC3850F537}"/>
              </a:ext>
            </a:extLst>
          </p:cNvPr>
          <p:cNvSpPr/>
          <p:nvPr/>
        </p:nvSpPr>
        <p:spPr>
          <a:xfrm>
            <a:off x="6985000" y="3810000"/>
            <a:ext cx="2984500" cy="889000"/>
          </a:xfrm>
          <a:prstGeom prst="rect">
            <a:avLst/>
          </a:prstGeom>
          <a:solidFill>
            <a:srgbClr val="FEF2F2"/>
          </a:solidFill>
          <a:ln w="9525">
            <a:solidFill>
              <a:srgbClr val="FECAC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단절점</a:t>
            </a:r>
          </a:p>
          <a:p>
            <a:pPr algn="ctr"/>
            <a:r>
              <a:rPr lang="en-US" altLang="ko-KR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Tool call</a:t>
            </a:r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이 비어 </a:t>
            </a:r>
            <a:r>
              <a:rPr lang="en-US" altLang="ko-KR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5</a:t>
            </a:r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번 단계로 넘어가지 못함</a:t>
            </a: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66723DD1-BA98-987E-CB7D-37CAAB209C60}"/>
              </a:ext>
            </a:extLst>
          </p:cNvPr>
          <p:cNvCxnSpPr/>
          <p:nvPr/>
        </p:nvCxnSpPr>
        <p:spPr>
          <a:xfrm>
            <a:off x="7747000" y="3098800"/>
            <a:ext cx="317500" cy="711200"/>
          </a:xfrm>
          <a:prstGeom prst="line">
            <a:avLst/>
          </a:prstGeom>
          <a:ln w="15875">
            <a:solidFill>
              <a:srgbClr val="DC2626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Condition">
            <a:extLst>
              <a:ext uri="{FF2B5EF4-FFF2-40B4-BE49-F238E27FC236}">
                <a16:creationId xmlns:a16="http://schemas.microsoft.com/office/drawing/2014/main" id="{934BD34F-3421-058B-5F2A-56F9DE8E2527}"/>
              </a:ext>
            </a:extLst>
          </p:cNvPr>
          <p:cNvSpPr/>
          <p:nvPr/>
        </p:nvSpPr>
        <p:spPr>
          <a:xfrm>
            <a:off x="1041400" y="5207000"/>
            <a:ext cx="10109200" cy="68580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ko-KR" altLang="en-US" sz="13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정책 확인 알림은 </a:t>
            </a:r>
            <a:r>
              <a:rPr lang="en-US" altLang="ko-KR" sz="13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policy_planner</a:t>
            </a:r>
            <a:r>
              <a:rPr lang="ko-KR" altLang="en-US" sz="13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가 </a:t>
            </a:r>
            <a:r>
              <a:rPr lang="en-US" altLang="ko-KR" sz="13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apply_notification_policy Tool call</a:t>
            </a:r>
            <a:r>
              <a:rPr lang="ko-KR" altLang="en-US" sz="13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을 반환해야만 생성된다</a:t>
            </a:r>
            <a:r>
              <a:rPr lang="en-US" altLang="ko-KR" sz="13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.</a:t>
            </a:r>
            <a:endParaRPr lang="ko-KR" altLang="en-US" sz="1300" b="1">
              <a:solidFill>
                <a:srgbClr val="111827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23" name="Footer">
            <a:extLst>
              <a:ext uri="{FF2B5EF4-FFF2-40B4-BE49-F238E27FC236}">
                <a16:creationId xmlns:a16="http://schemas.microsoft.com/office/drawing/2014/main" id="{0B68E2F8-207E-6DB9-6B73-323DC65EF386}"/>
              </a:ext>
            </a:extLst>
          </p:cNvPr>
          <p:cNvSpPr txBox="1"/>
          <p:nvPr/>
        </p:nvSpPr>
        <p:spPr>
          <a:xfrm>
            <a:off x="495300" y="6540500"/>
            <a:ext cx="8763000" cy="225703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ko-KR" altLang="en-US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해결 초점</a:t>
            </a:r>
            <a:r>
              <a:rPr lang="en-US" altLang="ko-KR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: </a:t>
            </a:r>
            <a:r>
              <a:rPr lang="ko-KR" altLang="en-US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후보 생성 로직보다 </a:t>
            </a:r>
            <a:r>
              <a:rPr lang="en-US" altLang="ko-KR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policy_planner</a:t>
            </a:r>
            <a:r>
              <a:rPr lang="ko-KR" altLang="en-US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의 의사결정 기준</a:t>
            </a:r>
          </a:p>
        </p:txBody>
      </p:sp>
      <p:sp>
        <p:nvSpPr>
          <p:cNvPr id="24" name="Slide Number">
            <a:extLst>
              <a:ext uri="{FF2B5EF4-FFF2-40B4-BE49-F238E27FC236}">
                <a16:creationId xmlns:a16="http://schemas.microsoft.com/office/drawing/2014/main" id="{3AAC435D-83BB-1188-9FDA-5F83040B4384}"/>
              </a:ext>
            </a:extLst>
          </p:cNvPr>
          <p:cNvSpPr txBox="1"/>
          <p:nvPr/>
        </p:nvSpPr>
        <p:spPr>
          <a:xfrm>
            <a:off x="11074400" y="6540500"/>
            <a:ext cx="635000" cy="225703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pPr algn="r"/>
            <a:r>
              <a:rPr lang="en-US" altLang="ko-KR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3/6</a:t>
            </a:r>
            <a:endParaRPr lang="ko-KR" altLang="en-US" sz="800">
              <a:solidFill>
                <a:srgbClr val="64748B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88147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B27D340-0E3E-74A0-025E-8607289AB9E2}"/>
              </a:ext>
            </a:extLst>
          </p:cNvPr>
          <p:cNvSpPr/>
          <p:nvPr/>
        </p:nvSpPr>
        <p:spPr>
          <a:xfrm>
            <a:off x="431800" y="4064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D9476F4-9620-A1B9-03DB-8D78A1B864FC}"/>
              </a:ext>
            </a:extLst>
          </p:cNvPr>
          <p:cNvSpPr txBox="1"/>
          <p:nvPr/>
        </p:nvSpPr>
        <p:spPr>
          <a:xfrm>
            <a:off x="685800" y="330200"/>
            <a:ext cx="8255000" cy="425758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ko-KR" altLang="en-US" sz="2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원인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B0BBB3FA-FCF2-E531-F620-B4EF5D81C786}"/>
              </a:ext>
            </a:extLst>
          </p:cNvPr>
          <p:cNvSpPr txBox="1"/>
          <p:nvPr/>
        </p:nvSpPr>
        <p:spPr>
          <a:xfrm>
            <a:off x="698500" y="787400"/>
            <a:ext cx="9652000" cy="256480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ko-KR" altLang="en-US" sz="10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프롬프트 기준이 두 판단을 동시에 허용했다</a:t>
            </a: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D6A51355-3423-853A-7022-5F0515116541}"/>
              </a:ext>
            </a:extLst>
          </p:cNvPr>
          <p:cNvCxnSpPr/>
          <p:nvPr/>
        </p:nvCxnSpPr>
        <p:spPr>
          <a:xfrm>
            <a:off x="431800" y="1219200"/>
            <a:ext cx="1127760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rompt A">
            <a:extLst>
              <a:ext uri="{FF2B5EF4-FFF2-40B4-BE49-F238E27FC236}">
                <a16:creationId xmlns:a16="http://schemas.microsoft.com/office/drawing/2014/main" id="{A135AB1B-407E-7790-F5D3-17B69C1C33BB}"/>
              </a:ext>
            </a:extLst>
          </p:cNvPr>
          <p:cNvSpPr/>
          <p:nvPr/>
        </p:nvSpPr>
        <p:spPr>
          <a:xfrm>
            <a:off x="1041400" y="1803400"/>
            <a:ext cx="4292600" cy="1066800"/>
          </a:xfrm>
          <a:prstGeom prst="rect">
            <a:avLst/>
          </a:prstGeom>
          <a:solidFill>
            <a:srgbClr val="F0FDF4"/>
          </a:solidFill>
          <a:ln w="9525">
            <a:solidFill>
              <a:srgbClr val="BBF7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ko-KR" altLang="en-US" sz="12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지침 </a:t>
            </a:r>
            <a:r>
              <a:rPr lang="en-US" altLang="ko-KR" sz="12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A</a:t>
            </a:r>
          </a:p>
          <a:p>
            <a:pPr algn="ctr"/>
            <a:r>
              <a:rPr lang="ko-KR" altLang="en-US" sz="12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정책 변경 후보가 필요하고 도구가 있으면 </a:t>
            </a:r>
            <a:r>
              <a:rPr lang="en-US" altLang="ko-KR" sz="12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tool_calls </a:t>
            </a:r>
            <a:r>
              <a:rPr lang="ko-KR" altLang="en-US" sz="12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반환</a:t>
            </a:r>
          </a:p>
        </p:txBody>
      </p:sp>
      <p:sp>
        <p:nvSpPr>
          <p:cNvPr id="7" name="Prompt B">
            <a:extLst>
              <a:ext uri="{FF2B5EF4-FFF2-40B4-BE49-F238E27FC236}">
                <a16:creationId xmlns:a16="http://schemas.microsoft.com/office/drawing/2014/main" id="{282BB565-4098-DBD6-EE37-B5561561BE8F}"/>
              </a:ext>
            </a:extLst>
          </p:cNvPr>
          <p:cNvSpPr/>
          <p:nvPr/>
        </p:nvSpPr>
        <p:spPr>
          <a:xfrm>
            <a:off x="6858000" y="1803400"/>
            <a:ext cx="4292600" cy="1066800"/>
          </a:xfrm>
          <a:prstGeom prst="rect">
            <a:avLst/>
          </a:prstGeom>
          <a:solidFill>
            <a:srgbClr val="FFFBEB"/>
          </a:solidFill>
          <a:ln w="9525">
            <a:solidFill>
              <a:srgbClr val="FDE6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ko-KR" altLang="en-US" sz="12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지침 </a:t>
            </a:r>
            <a:r>
              <a:rPr lang="en-US" altLang="ko-KR" sz="12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B</a:t>
            </a:r>
          </a:p>
          <a:p>
            <a:pPr algn="ctr"/>
            <a:r>
              <a:rPr lang="ko-KR" altLang="en-US" sz="12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정책 적용이 필요 없거나 모호하면 </a:t>
            </a:r>
            <a:r>
              <a:rPr lang="en-US" altLang="ko-KR" sz="12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clarification/advice </a:t>
            </a:r>
            <a:r>
              <a:rPr lang="ko-KR" altLang="en-US" sz="12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반환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F3D3283-AE6D-B5AD-8F05-312ECC224C68}"/>
              </a:ext>
            </a:extLst>
          </p:cNvPr>
          <p:cNvCxnSpPr/>
          <p:nvPr/>
        </p:nvCxnSpPr>
        <p:spPr>
          <a:xfrm>
            <a:off x="3175000" y="2870200"/>
            <a:ext cx="2032000" cy="660400"/>
          </a:xfrm>
          <a:prstGeom prst="line">
            <a:avLst/>
          </a:prstGeom>
          <a:ln w="15875">
            <a:solidFill>
              <a:srgbClr val="CBD5E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7DAADAA-2160-4174-96E6-6AD2E564FB78}"/>
              </a:ext>
            </a:extLst>
          </p:cNvPr>
          <p:cNvCxnSpPr/>
          <p:nvPr/>
        </p:nvCxnSpPr>
        <p:spPr>
          <a:xfrm flipH="1">
            <a:off x="6985000" y="2870200"/>
            <a:ext cx="2032000" cy="660400"/>
          </a:xfrm>
          <a:prstGeom prst="line">
            <a:avLst/>
          </a:prstGeom>
          <a:ln w="15875">
            <a:solidFill>
              <a:srgbClr val="CBD5E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ecision">
            <a:extLst>
              <a:ext uri="{FF2B5EF4-FFF2-40B4-BE49-F238E27FC236}">
                <a16:creationId xmlns:a16="http://schemas.microsoft.com/office/drawing/2014/main" id="{49F1F1FB-6A89-1981-8796-F968DCE0E92D}"/>
              </a:ext>
            </a:extLst>
          </p:cNvPr>
          <p:cNvSpPr/>
          <p:nvPr/>
        </p:nvSpPr>
        <p:spPr>
          <a:xfrm>
            <a:off x="4089400" y="3530600"/>
            <a:ext cx="4013200" cy="1168400"/>
          </a:xfrm>
          <a:prstGeom prst="rect">
            <a:avLst/>
          </a:prstGeom>
          <a:solidFill>
            <a:srgbClr val="FEF2F2"/>
          </a:solidFill>
          <a:ln w="9525">
            <a:solidFill>
              <a:srgbClr val="FECAC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실제 판단</a:t>
            </a:r>
          </a:p>
          <a:p>
            <a:pPr algn="ctr"/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메스꺼움</a:t>
            </a:r>
            <a:r>
              <a:rPr lang="en-US" altLang="ko-KR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/</a:t>
            </a:r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부작용 가능성을 더 크게 보고 의료진 상담 우선으로 </a:t>
            </a:r>
            <a:r>
              <a:rPr lang="en-US" altLang="ko-KR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Tool call </a:t>
            </a:r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생략</a:t>
            </a:r>
          </a:p>
        </p:txBody>
      </p:sp>
      <p:sp>
        <p:nvSpPr>
          <p:cNvPr id="11" name="Root Cause">
            <a:extLst>
              <a:ext uri="{FF2B5EF4-FFF2-40B4-BE49-F238E27FC236}">
                <a16:creationId xmlns:a16="http://schemas.microsoft.com/office/drawing/2014/main" id="{9DD59998-B170-9B95-1D08-65B3EC6F39B9}"/>
              </a:ext>
            </a:extLst>
          </p:cNvPr>
          <p:cNvSpPr txBox="1"/>
          <p:nvPr/>
        </p:nvSpPr>
        <p:spPr>
          <a:xfrm>
            <a:off x="1092200" y="5334000"/>
            <a:ext cx="10033000" cy="302647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pPr algn="ctr"/>
            <a:r>
              <a:rPr lang="ko-KR" altLang="en-US" sz="13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근본 원인</a:t>
            </a:r>
            <a:r>
              <a:rPr lang="en-US" altLang="ko-KR" sz="13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: </a:t>
            </a:r>
            <a:r>
              <a:rPr lang="ko-KR" altLang="en-US" sz="13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반복 미복용이 명확할 때 후보 알림을 만들어야 한다는 제품 기준이 프롬프트에 고정되어 있지 않았다</a:t>
            </a:r>
            <a:r>
              <a:rPr lang="en-US" altLang="ko-KR" sz="13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.</a:t>
            </a:r>
            <a:endParaRPr lang="ko-KR" altLang="en-US" sz="1300" b="1">
              <a:solidFill>
                <a:srgbClr val="111827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2" name="Footer">
            <a:extLst>
              <a:ext uri="{FF2B5EF4-FFF2-40B4-BE49-F238E27FC236}">
                <a16:creationId xmlns:a16="http://schemas.microsoft.com/office/drawing/2014/main" id="{190D10BC-4666-E718-B0FA-5065DD40D93A}"/>
              </a:ext>
            </a:extLst>
          </p:cNvPr>
          <p:cNvSpPr txBox="1"/>
          <p:nvPr/>
        </p:nvSpPr>
        <p:spPr>
          <a:xfrm>
            <a:off x="495300" y="6540500"/>
            <a:ext cx="8763000" cy="225703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ko-KR" altLang="en-US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단순 실행 오류보다 </a:t>
            </a:r>
            <a:r>
              <a:rPr lang="en-US" altLang="ko-KR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LLM </a:t>
            </a:r>
            <a:r>
              <a:rPr lang="ko-KR" altLang="en-US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의사결정 기준 불일치에 가까운 이슈</a:t>
            </a:r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43EBFB4C-A3D2-9D4A-704B-1DDC58C4D6F5}"/>
              </a:ext>
            </a:extLst>
          </p:cNvPr>
          <p:cNvSpPr txBox="1"/>
          <p:nvPr/>
        </p:nvSpPr>
        <p:spPr>
          <a:xfrm>
            <a:off x="11074400" y="6540500"/>
            <a:ext cx="635000" cy="225703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pPr algn="r"/>
            <a:r>
              <a:rPr lang="en-US" altLang="ko-KR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4/6</a:t>
            </a:r>
            <a:endParaRPr lang="ko-KR" altLang="en-US" sz="800">
              <a:solidFill>
                <a:srgbClr val="64748B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6158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79DAB89-40A7-5258-FE4D-B9B6070AB243}"/>
              </a:ext>
            </a:extLst>
          </p:cNvPr>
          <p:cNvSpPr/>
          <p:nvPr/>
        </p:nvSpPr>
        <p:spPr>
          <a:xfrm>
            <a:off x="431800" y="4064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DCAE0BE-8F4C-CE45-8511-381B555BE8DD}"/>
              </a:ext>
            </a:extLst>
          </p:cNvPr>
          <p:cNvSpPr txBox="1"/>
          <p:nvPr/>
        </p:nvSpPr>
        <p:spPr>
          <a:xfrm>
            <a:off x="685800" y="330200"/>
            <a:ext cx="8255000" cy="425758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ko-KR" altLang="en-US" sz="2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해결 방향 비교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002E2DD-41AE-8939-2DC0-5FEE5CA7B69A}"/>
              </a:ext>
            </a:extLst>
          </p:cNvPr>
          <p:cNvSpPr txBox="1"/>
          <p:nvPr/>
        </p:nvSpPr>
        <p:spPr>
          <a:xfrm>
            <a:off x="698500" y="787400"/>
            <a:ext cx="9652000" cy="256480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ko-KR" altLang="en-US" sz="10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권장안은 후보 생성과 의료진 확인 안내를 함께 제공하는 </a:t>
            </a:r>
            <a:r>
              <a:rPr lang="en-US" altLang="ko-KR" sz="10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B</a:t>
            </a:r>
            <a:r>
              <a:rPr lang="ko-KR" altLang="en-US" sz="10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안</a:t>
            </a: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3C0596F4-7283-A5D5-F42E-6F6703710D23}"/>
              </a:ext>
            </a:extLst>
          </p:cNvPr>
          <p:cNvCxnSpPr/>
          <p:nvPr/>
        </p:nvCxnSpPr>
        <p:spPr>
          <a:xfrm>
            <a:off x="431800" y="1219200"/>
            <a:ext cx="1127760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449B4D0-7CF0-0AE1-6371-100E6FC475A8}"/>
              </a:ext>
            </a:extLst>
          </p:cNvPr>
          <p:cNvSpPr/>
          <p:nvPr/>
        </p:nvSpPr>
        <p:spPr>
          <a:xfrm>
            <a:off x="736600" y="1727200"/>
            <a:ext cx="736600" cy="30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en-US" altLang="ko-KR" sz="900" b="1">
                <a:solidFill>
                  <a:srgbClr val="D97706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A</a:t>
            </a:r>
            <a:r>
              <a:rPr lang="ko-KR" altLang="en-US" sz="900" b="1">
                <a:solidFill>
                  <a:srgbClr val="D97706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안</a:t>
            </a:r>
          </a:p>
        </p:txBody>
      </p:sp>
      <p:sp>
        <p:nvSpPr>
          <p:cNvPr id="7" name="Option">
            <a:extLst>
              <a:ext uri="{FF2B5EF4-FFF2-40B4-BE49-F238E27FC236}">
                <a16:creationId xmlns:a16="http://schemas.microsoft.com/office/drawing/2014/main" id="{3EADA3CF-E1D1-D8FC-DCD5-3867C3A64102}"/>
              </a:ext>
            </a:extLst>
          </p:cNvPr>
          <p:cNvSpPr/>
          <p:nvPr/>
        </p:nvSpPr>
        <p:spPr>
          <a:xfrm>
            <a:off x="736600" y="2209800"/>
            <a:ext cx="2997200" cy="23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부작용 가능성 시 보류</a:t>
            </a:r>
          </a:p>
          <a:p>
            <a:endParaRPr lang="ko-KR" altLang="en-US" sz="1100" b="1">
              <a:solidFill>
                <a:srgbClr val="111827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의료 리스크 상황에서 복약 압박 감소</a:t>
            </a:r>
          </a:p>
          <a:p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명확한 미복용 패턴에도 자동 흐름 중단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C2B6D175-D2A6-81BC-BD5A-5D32BF51C2F7}"/>
              </a:ext>
            </a:extLst>
          </p:cNvPr>
          <p:cNvSpPr/>
          <p:nvPr/>
        </p:nvSpPr>
        <p:spPr>
          <a:xfrm>
            <a:off x="4394200" y="1498600"/>
            <a:ext cx="736600" cy="30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en-US" altLang="ko-KR" sz="900" b="1">
                <a:solidFill>
                  <a:srgbClr val="16A34A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B</a:t>
            </a:r>
            <a:r>
              <a:rPr lang="ko-KR" altLang="en-US" sz="900" b="1">
                <a:solidFill>
                  <a:srgbClr val="16A34A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안</a:t>
            </a:r>
          </a:p>
        </p:txBody>
      </p:sp>
      <p:sp>
        <p:nvSpPr>
          <p:cNvPr id="9" name="Option">
            <a:extLst>
              <a:ext uri="{FF2B5EF4-FFF2-40B4-BE49-F238E27FC236}">
                <a16:creationId xmlns:a16="http://schemas.microsoft.com/office/drawing/2014/main" id="{47CBBAC3-82A0-AE7C-6E4C-06BE8577FB78}"/>
              </a:ext>
            </a:extLst>
          </p:cNvPr>
          <p:cNvSpPr/>
          <p:nvPr/>
        </p:nvSpPr>
        <p:spPr>
          <a:xfrm>
            <a:off x="4394200" y="1981200"/>
            <a:ext cx="2997200" cy="2717800"/>
          </a:xfrm>
          <a:prstGeom prst="rect">
            <a:avLst/>
          </a:prstGeom>
          <a:solidFill>
            <a:srgbClr val="F0FDF4"/>
          </a:solidFill>
          <a:ln w="9525">
            <a:solidFill>
              <a:srgbClr val="86EFA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후보 생성 </a:t>
            </a:r>
            <a:r>
              <a:rPr lang="en-US" altLang="ko-KR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+ </a:t>
            </a:r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의료진 확인 안내</a:t>
            </a:r>
          </a:p>
          <a:p>
            <a:endParaRPr lang="ko-KR" altLang="en-US" sz="1100" b="1">
              <a:solidFill>
                <a:srgbClr val="111827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반복 미복용이 명확하면 </a:t>
            </a:r>
            <a:r>
              <a:rPr lang="en-US" altLang="ko-KR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Tool call </a:t>
            </a:r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반환</a:t>
            </a:r>
          </a:p>
          <a:p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의료진 확인 필요성과 알림 변경 한계를 메시지에 병기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8C5A432C-C0A7-9E84-0D61-00CDDD1B2AA6}"/>
              </a:ext>
            </a:extLst>
          </p:cNvPr>
          <p:cNvSpPr/>
          <p:nvPr/>
        </p:nvSpPr>
        <p:spPr>
          <a:xfrm>
            <a:off x="8051800" y="1727200"/>
            <a:ext cx="736600" cy="30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en-US" altLang="ko-KR" sz="900" b="1">
                <a:solidFill>
                  <a:srgbClr val="7C3AED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C</a:t>
            </a:r>
            <a:r>
              <a:rPr lang="ko-KR" altLang="en-US" sz="900" b="1">
                <a:solidFill>
                  <a:srgbClr val="7C3AED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안</a:t>
            </a:r>
          </a:p>
        </p:txBody>
      </p:sp>
      <p:sp>
        <p:nvSpPr>
          <p:cNvPr id="11" name="Option">
            <a:extLst>
              <a:ext uri="{FF2B5EF4-FFF2-40B4-BE49-F238E27FC236}">
                <a16:creationId xmlns:a16="http://schemas.microsoft.com/office/drawing/2014/main" id="{08F080C9-CE1B-1B58-9D39-CAB055A0BEF8}"/>
              </a:ext>
            </a:extLst>
          </p:cNvPr>
          <p:cNvSpPr/>
          <p:nvPr/>
        </p:nvSpPr>
        <p:spPr>
          <a:xfrm>
            <a:off x="8051800" y="2209800"/>
            <a:ext cx="2997200" cy="23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부작용 경로와 정책 경로 분리</a:t>
            </a:r>
          </a:p>
          <a:p>
            <a:endParaRPr lang="ko-KR" altLang="en-US" sz="1100" b="1">
              <a:solidFill>
                <a:srgbClr val="111827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의료 안내와 정책 후보가 명확히 분리</a:t>
            </a:r>
          </a:p>
          <a:p>
            <a:r>
              <a:rPr lang="en-US" altLang="ko-KR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UI</a:t>
            </a:r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와 대화 상태 관리 복잡도 증가</a:t>
            </a:r>
          </a:p>
        </p:txBody>
      </p:sp>
      <p:sp>
        <p:nvSpPr>
          <p:cNvPr id="12" name="Recommendation">
            <a:extLst>
              <a:ext uri="{FF2B5EF4-FFF2-40B4-BE49-F238E27FC236}">
                <a16:creationId xmlns:a16="http://schemas.microsoft.com/office/drawing/2014/main" id="{129914E0-E47A-B094-D272-DD8AC3499595}"/>
              </a:ext>
            </a:extLst>
          </p:cNvPr>
          <p:cNvSpPr/>
          <p:nvPr/>
        </p:nvSpPr>
        <p:spPr>
          <a:xfrm>
            <a:off x="1041400" y="5359400"/>
            <a:ext cx="10109200" cy="53340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en-US" altLang="ko-KR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B</a:t>
            </a:r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안은 기존 설계인 </a:t>
            </a:r>
            <a:r>
              <a:rPr lang="en-US" altLang="ko-KR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'</a:t>
            </a:r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정책 변경은 즉시 적용이 아니라 환자 확인 후보</a:t>
            </a:r>
            <a:r>
              <a:rPr lang="en-US" altLang="ko-KR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'</a:t>
            </a:r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라는 흐름과 가장 잘 맞는다</a:t>
            </a:r>
            <a:r>
              <a:rPr lang="en-US" altLang="ko-KR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.</a:t>
            </a:r>
            <a:endParaRPr lang="ko-KR" altLang="en-US" sz="1100" b="1">
              <a:solidFill>
                <a:srgbClr val="111827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3" name="Footer">
            <a:extLst>
              <a:ext uri="{FF2B5EF4-FFF2-40B4-BE49-F238E27FC236}">
                <a16:creationId xmlns:a16="http://schemas.microsoft.com/office/drawing/2014/main" id="{6350DB46-4CE2-BF0C-2764-468BB52AC684}"/>
              </a:ext>
            </a:extLst>
          </p:cNvPr>
          <p:cNvSpPr txBox="1"/>
          <p:nvPr/>
        </p:nvSpPr>
        <p:spPr>
          <a:xfrm>
            <a:off x="495300" y="6540500"/>
            <a:ext cx="8763000" cy="225703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ko-KR" altLang="en-US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제품 기준</a:t>
            </a:r>
            <a:r>
              <a:rPr lang="en-US" altLang="ko-KR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: </a:t>
            </a:r>
            <a:r>
              <a:rPr lang="ko-KR" altLang="en-US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안전 안내는 남기되</a:t>
            </a:r>
            <a:r>
              <a:rPr lang="en-US" altLang="ko-KR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, </a:t>
            </a:r>
            <a:r>
              <a:rPr lang="ko-KR" altLang="en-US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명확한 패턴 기반 후보 생성은 끊지 않는다</a:t>
            </a:r>
            <a:r>
              <a:rPr lang="en-US" altLang="ko-KR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.</a:t>
            </a:r>
            <a:endParaRPr lang="ko-KR" altLang="en-US" sz="800">
              <a:solidFill>
                <a:srgbClr val="64748B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4" name="Slide Number">
            <a:extLst>
              <a:ext uri="{FF2B5EF4-FFF2-40B4-BE49-F238E27FC236}">
                <a16:creationId xmlns:a16="http://schemas.microsoft.com/office/drawing/2014/main" id="{D37B3E80-FB39-ABDA-65C0-9971C2021271}"/>
              </a:ext>
            </a:extLst>
          </p:cNvPr>
          <p:cNvSpPr txBox="1"/>
          <p:nvPr/>
        </p:nvSpPr>
        <p:spPr>
          <a:xfrm>
            <a:off x="11074400" y="6540500"/>
            <a:ext cx="635000" cy="225703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pPr algn="r"/>
            <a:r>
              <a:rPr lang="en-US" altLang="ko-KR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5/6</a:t>
            </a:r>
            <a:endParaRPr lang="ko-KR" altLang="en-US" sz="800">
              <a:solidFill>
                <a:srgbClr val="64748B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87271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6D0A413-70A8-DE98-4947-3E2B50518DF8}"/>
              </a:ext>
            </a:extLst>
          </p:cNvPr>
          <p:cNvSpPr/>
          <p:nvPr/>
        </p:nvSpPr>
        <p:spPr>
          <a:xfrm>
            <a:off x="431800" y="4064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3597A-6300-A06F-9E0C-DCEEDA1B20C4}"/>
              </a:ext>
            </a:extLst>
          </p:cNvPr>
          <p:cNvSpPr txBox="1"/>
          <p:nvPr/>
        </p:nvSpPr>
        <p:spPr>
          <a:xfrm>
            <a:off x="685800" y="330200"/>
            <a:ext cx="8255000" cy="425758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ko-KR" altLang="en-US" sz="2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적용 내용과 검증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5AE6413F-5388-7DF3-4B3E-BBAFC9A96D5A}"/>
              </a:ext>
            </a:extLst>
          </p:cNvPr>
          <p:cNvSpPr txBox="1"/>
          <p:nvPr/>
        </p:nvSpPr>
        <p:spPr>
          <a:xfrm>
            <a:off x="698500" y="787400"/>
            <a:ext cx="9652000" cy="256480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en-US" altLang="ko-KR" sz="10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policy_planner_v13</a:t>
            </a:r>
            <a:r>
              <a:rPr lang="ko-KR" altLang="en-US" sz="10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에서 </a:t>
            </a:r>
            <a:r>
              <a:rPr lang="en-US" altLang="ko-KR" sz="10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B</a:t>
            </a:r>
            <a:r>
              <a:rPr lang="ko-KR" altLang="en-US" sz="10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안 기준을 명시</a:t>
            </a: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E71EAFE3-9906-BE13-C899-1F7E158839E5}"/>
              </a:ext>
            </a:extLst>
          </p:cNvPr>
          <p:cNvCxnSpPr/>
          <p:nvPr/>
        </p:nvCxnSpPr>
        <p:spPr>
          <a:xfrm>
            <a:off x="431800" y="1219200"/>
            <a:ext cx="1127760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Applied Heading">
            <a:extLst>
              <a:ext uri="{FF2B5EF4-FFF2-40B4-BE49-F238E27FC236}">
                <a16:creationId xmlns:a16="http://schemas.microsoft.com/office/drawing/2014/main" id="{DF9A413A-2995-DF4E-67C9-79CDC52B6974}"/>
              </a:ext>
            </a:extLst>
          </p:cNvPr>
          <p:cNvSpPr txBox="1"/>
          <p:nvPr/>
        </p:nvSpPr>
        <p:spPr>
          <a:xfrm>
            <a:off x="787400" y="1625600"/>
            <a:ext cx="4572000" cy="318036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ko-KR" altLang="en-US" sz="14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적용된 기준</a:t>
            </a:r>
          </a:p>
        </p:txBody>
      </p:sp>
      <p:sp>
        <p:nvSpPr>
          <p:cNvPr id="7" name="Validation Heading">
            <a:extLst>
              <a:ext uri="{FF2B5EF4-FFF2-40B4-BE49-F238E27FC236}">
                <a16:creationId xmlns:a16="http://schemas.microsoft.com/office/drawing/2014/main" id="{6487F0A9-2848-2421-5908-C83DF2137F0F}"/>
              </a:ext>
            </a:extLst>
          </p:cNvPr>
          <p:cNvSpPr txBox="1"/>
          <p:nvPr/>
        </p:nvSpPr>
        <p:spPr>
          <a:xfrm>
            <a:off x="6451600" y="1625600"/>
            <a:ext cx="4572000" cy="318036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ko-KR" altLang="en-US" sz="14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검증 시나리오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F22139D-4BA8-D17D-C841-2473527461BE}"/>
              </a:ext>
            </a:extLst>
          </p:cNvPr>
          <p:cNvCxnSpPr/>
          <p:nvPr/>
        </p:nvCxnSpPr>
        <p:spPr>
          <a:xfrm>
            <a:off x="787400" y="2082800"/>
            <a:ext cx="4699000" cy="0"/>
          </a:xfrm>
          <a:prstGeom prst="line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590B44FE-2D3D-AEFF-E441-9DC88161FFD6}"/>
              </a:ext>
            </a:extLst>
          </p:cNvPr>
          <p:cNvCxnSpPr/>
          <p:nvPr/>
        </p:nvCxnSpPr>
        <p:spPr>
          <a:xfrm>
            <a:off x="6451600" y="2082800"/>
            <a:ext cx="4699000" cy="0"/>
          </a:xfrm>
          <a:prstGeom prst="line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pplied">
            <a:extLst>
              <a:ext uri="{FF2B5EF4-FFF2-40B4-BE49-F238E27FC236}">
                <a16:creationId xmlns:a16="http://schemas.microsoft.com/office/drawing/2014/main" id="{43B08A0F-4A95-8CF0-6A89-B6B12DB01A28}"/>
              </a:ext>
            </a:extLst>
          </p:cNvPr>
          <p:cNvSpPr/>
          <p:nvPr/>
        </p:nvSpPr>
        <p:spPr>
          <a:xfrm>
            <a:off x="787400" y="2463800"/>
            <a:ext cx="4699000" cy="2133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suggested_policies</a:t>
            </a:r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가 있으면 </a:t>
            </a:r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Tool call </a:t>
            </a:r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반환</a:t>
            </a:r>
          </a:p>
          <a:p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부작용</a:t>
            </a:r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/</a:t>
            </a:r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의료진 상담 필요성이 있어도 생략하지 않음</a:t>
            </a:r>
          </a:p>
          <a:p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Tool call</a:t>
            </a:r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은 즉시 적용이 아닌 환자 확인용 후보</a:t>
            </a:r>
          </a:p>
          <a:p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message</a:t>
            </a:r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와 </a:t>
            </a:r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reason</a:t>
            </a:r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에 의료진 확인 필요성 병기</a:t>
            </a:r>
          </a:p>
          <a:p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생략 조건을 </a:t>
            </a:r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boundary/</a:t>
            </a:r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필수 인자</a:t>
            </a:r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/slot </a:t>
            </a:r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모호</a:t>
            </a:r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/</a:t>
            </a:r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현행 유지로 제한</a:t>
            </a:r>
          </a:p>
        </p:txBody>
      </p:sp>
      <p:sp>
        <p:nvSpPr>
          <p:cNvPr id="11" name="Validation">
            <a:extLst>
              <a:ext uri="{FF2B5EF4-FFF2-40B4-BE49-F238E27FC236}">
                <a16:creationId xmlns:a16="http://schemas.microsoft.com/office/drawing/2014/main" id="{A6A5809C-681F-7470-B4BA-61DEA983955A}"/>
              </a:ext>
            </a:extLst>
          </p:cNvPr>
          <p:cNvSpPr/>
          <p:nvPr/>
        </p:nvSpPr>
        <p:spPr>
          <a:xfrm>
            <a:off x="6451600" y="2463800"/>
            <a:ext cx="4699000" cy="2133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전 시간대 미복용 </a:t>
            </a:r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+ </a:t>
            </a:r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부작용 맥락에서도 </a:t>
            </a:r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Tool call 3</a:t>
            </a:r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개 생성</a:t>
            </a:r>
          </a:p>
          <a:p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message</a:t>
            </a:r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에 전체 패턴과 의료진 확인 필요성 포함</a:t>
            </a:r>
          </a:p>
          <a:p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boundary </a:t>
            </a:r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위반 시 </a:t>
            </a:r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Tool call </a:t>
            </a:r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미생성</a:t>
            </a:r>
          </a:p>
          <a:p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정상 복약일은 </a:t>
            </a:r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no change </a:t>
            </a:r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유지</a:t>
            </a:r>
          </a:p>
          <a:p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현행 유지 명시 시 </a:t>
            </a:r>
            <a:r>
              <a:rPr lang="en-US" altLang="ko-KR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Tool call </a:t>
            </a:r>
            <a:r>
              <a:rPr lang="ko-KR" altLang="en-US" sz="1000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미생성</a:t>
            </a:r>
          </a:p>
        </p:txBody>
      </p:sp>
      <p:sp>
        <p:nvSpPr>
          <p:cNvPr id="12" name="Outcome">
            <a:extLst>
              <a:ext uri="{FF2B5EF4-FFF2-40B4-BE49-F238E27FC236}">
                <a16:creationId xmlns:a16="http://schemas.microsoft.com/office/drawing/2014/main" id="{8F1B74F6-B47D-77FF-F7A7-54EF2CF84C9B}"/>
              </a:ext>
            </a:extLst>
          </p:cNvPr>
          <p:cNvSpPr/>
          <p:nvPr/>
        </p:nvSpPr>
        <p:spPr>
          <a:xfrm>
            <a:off x="1041400" y="5359400"/>
            <a:ext cx="10109200" cy="53340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기대 결과</a:t>
            </a:r>
            <a:r>
              <a:rPr lang="en-US" altLang="ko-KR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: </a:t>
            </a:r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명확한 반복 미복용 패턴은 후보 알림으로 연결되고</a:t>
            </a:r>
            <a:r>
              <a:rPr lang="en-US" altLang="ko-KR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, </a:t>
            </a:r>
            <a:r>
              <a:rPr lang="ko-KR" altLang="en-US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의료적 주의는 메시지에서 함께 안내된다</a:t>
            </a:r>
            <a:r>
              <a:rPr lang="en-US" altLang="ko-KR" sz="1100" b="1">
                <a:solidFill>
                  <a:srgbClr val="111827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.</a:t>
            </a:r>
            <a:endParaRPr lang="ko-KR" altLang="en-US" sz="1100" b="1">
              <a:solidFill>
                <a:srgbClr val="111827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3" name="Footer">
            <a:extLst>
              <a:ext uri="{FF2B5EF4-FFF2-40B4-BE49-F238E27FC236}">
                <a16:creationId xmlns:a16="http://schemas.microsoft.com/office/drawing/2014/main" id="{A9E70D2B-4770-D25F-E665-EB628349A422}"/>
              </a:ext>
            </a:extLst>
          </p:cNvPr>
          <p:cNvSpPr txBox="1"/>
          <p:nvPr/>
        </p:nvSpPr>
        <p:spPr>
          <a:xfrm>
            <a:off x="495300" y="6540500"/>
            <a:ext cx="8763000" cy="225703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r>
              <a:rPr lang="ko-KR" altLang="en-US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런타임 </a:t>
            </a:r>
            <a:r>
              <a:rPr lang="en-US" altLang="ko-KR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API </a:t>
            </a:r>
            <a:r>
              <a:rPr lang="ko-KR" altLang="en-US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변경 없이 프롬프트 기준과 검증 케이스로 제품 판단을 고정</a:t>
            </a:r>
          </a:p>
        </p:txBody>
      </p:sp>
      <p:sp>
        <p:nvSpPr>
          <p:cNvPr id="14" name="Slide Number">
            <a:extLst>
              <a:ext uri="{FF2B5EF4-FFF2-40B4-BE49-F238E27FC236}">
                <a16:creationId xmlns:a16="http://schemas.microsoft.com/office/drawing/2014/main" id="{646250A4-2042-9357-9DE6-E16CFA1670AA}"/>
              </a:ext>
            </a:extLst>
          </p:cNvPr>
          <p:cNvSpPr txBox="1"/>
          <p:nvPr/>
        </p:nvSpPr>
        <p:spPr>
          <a:xfrm>
            <a:off x="11074400" y="6540500"/>
            <a:ext cx="635000" cy="225703"/>
          </a:xfrm>
          <a:prstGeom prst="rect">
            <a:avLst/>
          </a:prstGeom>
          <a:solidFill>
            <a:srgbClr val="FFFFFF"/>
          </a:solidFill>
        </p:spPr>
        <p:txBody>
          <a:bodyPr vert="horz" lIns="76200" tIns="50800" rIns="76200" bIns="50800" rtlCol="0">
            <a:spAutoFit/>
          </a:bodyPr>
          <a:lstStyle/>
          <a:p>
            <a:pPr algn="r"/>
            <a:r>
              <a:rPr lang="en-US" altLang="ko-KR" sz="800">
                <a:solidFill>
                  <a:srgbClr val="64748B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6/6</a:t>
            </a:r>
            <a:endParaRPr lang="ko-KR" altLang="en-US" sz="800">
              <a:solidFill>
                <a:srgbClr val="64748B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9774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617</Words>
  <Application>Microsoft Office PowerPoint</Application>
  <PresentationFormat>사용자 지정</PresentationFormat>
  <Paragraphs>113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Malgun Gothic</vt:lpstr>
      <vt:lpstr>Malgun Gothic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sunghyeon park</dc:creator>
  <cp:lastModifiedBy>sunghyeon park</cp:lastModifiedBy>
  <cp:revision>1</cp:revision>
  <dcterms:created xsi:type="dcterms:W3CDTF">2026-05-18T00:21:17Z</dcterms:created>
  <dcterms:modified xsi:type="dcterms:W3CDTF">2026-05-18T00:21:17Z</dcterms:modified>
</cp:coreProperties>
</file>