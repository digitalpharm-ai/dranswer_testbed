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8A774-2161-77A5-5B1A-D1D9A20FE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C2BA4D-1954-CB05-93ED-5A1E1AB19F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BF4C19-D564-EFCE-39B8-4698C1B2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8F46ED-65DB-DE58-7AFE-CD608181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EDFC02-B18C-8047-699E-9124C1AA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69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ADBA6-CDB6-835F-A9A7-D0203C26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383A5-2E97-7CA2-D0A8-E3454D7C8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542334-9EEE-DEBB-916B-AD026817D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E7CB79-196E-8148-5840-3D49085CA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921D3-7B39-4EFE-8EE9-E06976E63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55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524B4-8B8C-97C0-0A42-601553FA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95EEA7-AEA0-E50C-AE1E-94289F5FC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9AEA48-3647-D949-C390-A7CD36BB6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FE3D2F-275A-39F5-E3AE-39430C0A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F074A9-B49C-B2F0-AF6D-A4CCD9BD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06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3D1C7-5BE5-7AEA-235B-D72CCBD9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3DAEF-2BA4-DC30-157B-DA467A80E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64E7FC-A207-5D54-7F94-71C912555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310DCA-3453-04F8-3951-358E8671A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60AC59-4105-DCA3-9EBC-2DE159B5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00F06E-92E3-1BBE-1D80-45E837B0C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91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7913A1-D4E4-830D-F3E1-9519ADDB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307225-50B0-0124-3626-7A8887967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289ED9-5E2A-0F82-FDC4-3F293F4F7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820EEA9-9C66-365A-7174-E01CF59EF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3F473D-BA2D-46A7-44B4-440D11422B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4615781-49C9-B82C-44E4-6388BF728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B6F9C2-F6EE-05E8-5E55-4CFCAD4CF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C46E08-D4F3-1EF2-AFDA-42B231B01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92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0F5349-AC52-E7D2-18C9-06E2C4CCD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FD36EC-7AD7-8C8A-5807-89F4BC72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D9CF33-7CB9-2B15-D691-472ABB8B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4EF8FE-679E-1F2A-A248-6DA9177C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915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ED7F52-433E-913E-0554-D1B4A3CA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6841C3-83CA-0572-68F9-824AD32E7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CDF211-17D2-455F-267A-0D99FEAE0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8843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5B2AC-00F4-15A4-0392-30746A92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EC4690-712A-B090-AD07-52769073B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3522AC-65BC-301B-A16D-76B7047A1D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CDB9F-F32F-94BB-B019-A38990A83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E68B49-FD50-440C-9A5C-9FEFE713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1A7B39-7AE5-23B7-4C8C-F3DD952E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14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DCD9A1-14E0-5E72-CD1B-BB3CBE44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CAC917-633F-EB02-D25A-D3954F979C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C6EDF4-F184-F77B-E536-CA3C5FF98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EEB605-D2AF-A6E0-1DCC-A858B3A8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85114-F53A-3FF4-7CF9-7FD37528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1569E-7E28-985C-13FA-027437A37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685D3-20DD-EE33-6DB7-AA1994FE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0B5568-FC83-CFE7-2565-E4180509B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543970-9F09-D8C8-F7B6-E10EB1F19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D2836C-24A0-81DA-E41C-ECEE39CFC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C2C8BD-8C47-09D2-60FB-B63430FC8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947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0BFA35-B3A5-D602-01F4-5A1AB88BD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5882EB-E848-8942-C8C4-DEFC000D5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E79B3E-117D-6E15-82E2-8DA3E7770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3482A7-EF3E-F025-30B0-8AFDDE488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B88BC1-6C71-403E-3EFB-3D33DF172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729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42A4AE-EE12-BBEF-B13D-3A21040D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468E6-9F0E-4D28-E360-9DBAFA4CE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1D9E86-0C1D-B6A7-14E3-A54B515A3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F33C4-9D0D-4D83-8AE6-74B0C3600DD4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A46175-E942-83FD-C445-DD99B3C884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9014D-4D44-D3DA-AA53-21B8D02FE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BFF3DC-4FE6-4724-9C04-AFAD06073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04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280C264-0EAA-67C5-35AF-EA289B3A4BD6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1B083B0-76DA-9E2C-B14C-0E9E8321F8F5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미복용 정책 추천 기준 재정의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FF6E138B-1945-9EB3-0DB5-22E0FFB7744D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미복용이라도 원인이 부작용이면 알림 강화가 답이 아닐 수 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3B4FCA6-CAAC-B647-C3A2-56369B4F90BC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Main">
            <a:extLst>
              <a:ext uri="{FF2B5EF4-FFF2-40B4-BE49-F238E27FC236}">
                <a16:creationId xmlns:a16="http://schemas.microsoft.com/office/drawing/2014/main" id="{3978A0AB-860E-C261-515C-BB6FC667A251}"/>
              </a:ext>
            </a:extLst>
          </p:cNvPr>
          <p:cNvSpPr txBox="1"/>
          <p:nvPr/>
        </p:nvSpPr>
        <p:spPr>
          <a:xfrm>
            <a:off x="889000" y="1625600"/>
            <a:ext cx="10414000" cy="71301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미복용을 보면 알림 빈도 변경 후보를 제안할 수 있다</a:t>
            </a:r>
            <a:r>
              <a:rPr lang="en-US" altLang="ko-KR" sz="1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  <a:p>
            <a:r>
              <a:rPr lang="ko-KR" altLang="en-US" sz="1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하지만 미복용의 원인이 부작용이라면 먼저 의료적 확인이 필요하다</a:t>
            </a:r>
            <a:r>
              <a:rPr lang="en-US" altLang="ko-KR" sz="19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9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Current">
            <a:extLst>
              <a:ext uri="{FF2B5EF4-FFF2-40B4-BE49-F238E27FC236}">
                <a16:creationId xmlns:a16="http://schemas.microsoft.com/office/drawing/2014/main" id="{269CB7CC-1016-AED8-B947-45ACF256A115}"/>
              </a:ext>
            </a:extLst>
          </p:cNvPr>
          <p:cNvSpPr/>
          <p:nvPr/>
        </p:nvSpPr>
        <p:spPr>
          <a:xfrm>
            <a:off x="1117600" y="3225800"/>
            <a:ext cx="4191000" cy="142240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현재 흐름</a:t>
            </a:r>
          </a:p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 패턴을 기반으로 알림 강화 후보 생성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78E0E1D-F0B5-892F-FDCD-6BE21CD516C7}"/>
              </a:ext>
            </a:extLst>
          </p:cNvPr>
          <p:cNvCxnSpPr/>
          <p:nvPr/>
        </p:nvCxnSpPr>
        <p:spPr>
          <a:xfrm>
            <a:off x="5334000" y="3937000"/>
            <a:ext cx="1524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sue">
            <a:extLst>
              <a:ext uri="{FF2B5EF4-FFF2-40B4-BE49-F238E27FC236}">
                <a16:creationId xmlns:a16="http://schemas.microsoft.com/office/drawing/2014/main" id="{D319FD12-758A-B330-35DF-027F214AC388}"/>
              </a:ext>
            </a:extLst>
          </p:cNvPr>
          <p:cNvSpPr/>
          <p:nvPr/>
        </p:nvSpPr>
        <p:spPr>
          <a:xfrm>
            <a:off x="6883400" y="3225800"/>
            <a:ext cx="4191000" cy="14224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 이슈</a:t>
            </a:r>
          </a:p>
          <a:p>
            <a:pPr algn="ctr"/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부작용으로 복용이 어려운 상황에는 알림 강화가 부적절할 수 있음</a:t>
            </a:r>
          </a:p>
        </p:txBody>
      </p:sp>
      <p:sp>
        <p:nvSpPr>
          <p:cNvPr id="10" name="Takeaway">
            <a:extLst>
              <a:ext uri="{FF2B5EF4-FFF2-40B4-BE49-F238E27FC236}">
                <a16:creationId xmlns:a16="http://schemas.microsoft.com/office/drawing/2014/main" id="{3EBC761A-CAAD-DB5E-5D46-3171D0527E5D}"/>
              </a:ext>
            </a:extLst>
          </p:cNvPr>
          <p:cNvSpPr/>
          <p:nvPr/>
        </p:nvSpPr>
        <p:spPr>
          <a:xfrm>
            <a:off x="1422400" y="5461000"/>
            <a:ext cx="9347200" cy="609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의사결정 포인트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정책 추천은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 여부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아니라 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미복용 원인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까지 보고 결정해야 한다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5B1DB2FB-C049-6BFE-23C7-448B7A4A2D94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비개발자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기획자 공유용 요약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B609C356-C62D-DAB4-3EBB-54278AA60FEA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2798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71E580F-E0B7-C328-02B9-41D2AF9AB619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3E420EA-D73B-3D9B-6362-9950AB69E7C9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미복용 원인은 하나가 아니다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1F79420-4F29-4E45-F1E1-015421582B16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같은 미복용 기록도 행동 보조 문제와 의료 확인 문제로 나뉜다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7DC98CD-9711-4EFA-3791-3C232E6AF8C2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ft Heading">
            <a:extLst>
              <a:ext uri="{FF2B5EF4-FFF2-40B4-BE49-F238E27FC236}">
                <a16:creationId xmlns:a16="http://schemas.microsoft.com/office/drawing/2014/main" id="{1BD7D98F-7F5A-A135-C3D5-F9446F7F99A3}"/>
              </a:ext>
            </a:extLst>
          </p:cNvPr>
          <p:cNvSpPr txBox="1"/>
          <p:nvPr/>
        </p:nvSpPr>
        <p:spPr>
          <a:xfrm>
            <a:off x="1066800" y="1676400"/>
            <a:ext cx="4191000" cy="359073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행동 보조로 해결 가능한 경우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AB30AE4-3109-23A5-A667-1EE08446BC0C}"/>
              </a:ext>
            </a:extLst>
          </p:cNvPr>
          <p:cNvCxnSpPr/>
          <p:nvPr/>
        </p:nvCxnSpPr>
        <p:spPr>
          <a:xfrm>
            <a:off x="1066800" y="2108200"/>
            <a:ext cx="4191000" cy="0"/>
          </a:xfrm>
          <a:prstGeom prst="line">
            <a:avLst/>
          </a:prstGeom>
          <a:ln w="15875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ehavior">
            <a:extLst>
              <a:ext uri="{FF2B5EF4-FFF2-40B4-BE49-F238E27FC236}">
                <a16:creationId xmlns:a16="http://schemas.microsoft.com/office/drawing/2014/main" id="{54F9FA5F-15E5-981F-856C-271FE7A8AF77}"/>
              </a:ext>
            </a:extLst>
          </p:cNvPr>
          <p:cNvSpPr/>
          <p:nvPr/>
        </p:nvSpPr>
        <p:spPr>
          <a:xfrm>
            <a:off x="1066800" y="2489200"/>
            <a:ext cx="4191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깜빡함</a:t>
            </a:r>
          </a:p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알림을 못 봄</a:t>
            </a:r>
          </a:p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생활 패턴 변화</a:t>
            </a:r>
          </a:p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복약 루틴이 불안정함</a:t>
            </a:r>
          </a:p>
        </p:txBody>
      </p:sp>
      <p:sp>
        <p:nvSpPr>
          <p:cNvPr id="9" name="Right Heading">
            <a:extLst>
              <a:ext uri="{FF2B5EF4-FFF2-40B4-BE49-F238E27FC236}">
                <a16:creationId xmlns:a16="http://schemas.microsoft.com/office/drawing/2014/main" id="{EBFE37AD-022D-EA5B-58CC-43472F8CE8AF}"/>
              </a:ext>
            </a:extLst>
          </p:cNvPr>
          <p:cNvSpPr txBox="1"/>
          <p:nvPr/>
        </p:nvSpPr>
        <p:spPr>
          <a:xfrm>
            <a:off x="6934200" y="1676400"/>
            <a:ext cx="4191000" cy="359073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의료적 확인이 먼저 필요한 경우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7B9AB6B-E4C0-5971-6B28-E98A224D5841}"/>
              </a:ext>
            </a:extLst>
          </p:cNvPr>
          <p:cNvCxnSpPr/>
          <p:nvPr/>
        </p:nvCxnSpPr>
        <p:spPr>
          <a:xfrm>
            <a:off x="6934200" y="2108200"/>
            <a:ext cx="4191000" cy="0"/>
          </a:xfrm>
          <a:prstGeom prst="line">
            <a:avLst/>
          </a:prstGeom>
          <a:ln w="15875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edical">
            <a:extLst>
              <a:ext uri="{FF2B5EF4-FFF2-40B4-BE49-F238E27FC236}">
                <a16:creationId xmlns:a16="http://schemas.microsoft.com/office/drawing/2014/main" id="{1395E27A-A74F-D418-A826-B4A07A2EFE00}"/>
              </a:ext>
            </a:extLst>
          </p:cNvPr>
          <p:cNvSpPr/>
          <p:nvPr/>
        </p:nvSpPr>
        <p:spPr>
          <a:xfrm>
            <a:off x="6934200" y="2489200"/>
            <a:ext cx="41910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 복용을 망설임</a:t>
            </a:r>
          </a:p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 부작용 때문에 복용이 어려움</a:t>
            </a:r>
          </a:p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의료적 확인이 필요한 증상 발생</a:t>
            </a:r>
          </a:p>
          <a:p>
            <a:r>
              <a:rPr lang="ko-KR" altLang="en-US" sz="13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심한 증상 또는 위험 신호</a:t>
            </a:r>
          </a:p>
        </p:txBody>
      </p:sp>
      <p:sp>
        <p:nvSpPr>
          <p:cNvPr id="12" name="Takeaway">
            <a:extLst>
              <a:ext uri="{FF2B5EF4-FFF2-40B4-BE49-F238E27FC236}">
                <a16:creationId xmlns:a16="http://schemas.microsoft.com/office/drawing/2014/main" id="{27FBD6E3-F1A9-A215-4243-733F1764A5C8}"/>
              </a:ext>
            </a:extLst>
          </p:cNvPr>
          <p:cNvSpPr/>
          <p:nvPr/>
        </p:nvSpPr>
        <p:spPr>
          <a:xfrm>
            <a:off x="1422400" y="5461000"/>
            <a:ext cx="9347200" cy="609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따라서 정책 추천은 미복용 패턴을 감지한 뒤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원인 신호를 함께 분류하는 단계가 필요하다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2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7A1E4733-A992-3A70-70A3-38FA333166A8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분류 기준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행동 보조 문제인지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 확인 문제인지 먼저 본다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385AF5FB-8640-31CF-BEDE-3EFA647BBA71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461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FE94728-435C-9430-517A-0D9886017F66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CFDC8F8-9CFB-0C56-E89A-CB5359423B0A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상황에서 알림 강화가 위험한 이유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1689AA1-6C08-232F-2273-E4DD58ED12CD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환자는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도움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아니라 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복용 압박</a:t>
            </a:r>
            <a:r>
              <a:rPr lang="en-US" altLang="ko-KR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느낄 수 있다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B024DA7-5925-4789-A0B0-7513A6640240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B77C70AE-3764-2CE1-884D-CAD913045FFE}"/>
              </a:ext>
            </a:extLst>
          </p:cNvPr>
          <p:cNvSpPr/>
          <p:nvPr/>
        </p:nvSpPr>
        <p:spPr>
          <a:xfrm>
            <a:off x="1016000" y="1803400"/>
            <a:ext cx="1168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9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환자 경험</a:t>
            </a:r>
          </a:p>
        </p:txBody>
      </p:sp>
      <p:sp>
        <p:nvSpPr>
          <p:cNvPr id="7" name="Risk">
            <a:extLst>
              <a:ext uri="{FF2B5EF4-FFF2-40B4-BE49-F238E27FC236}">
                <a16:creationId xmlns:a16="http://schemas.microsoft.com/office/drawing/2014/main" id="{9679C358-0863-65BD-0800-DCBB3A348C83}"/>
              </a:ext>
            </a:extLst>
          </p:cNvPr>
          <p:cNvSpPr/>
          <p:nvPr/>
        </p:nvSpPr>
        <p:spPr>
          <a:xfrm>
            <a:off x="1016000" y="2235200"/>
            <a:ext cx="4445000" cy="10414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아픈데 더 먹으라고 재촉한다고 느낄 수 있음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0206F86-867F-C568-9B09-A9A684130EDB}"/>
              </a:ext>
            </a:extLst>
          </p:cNvPr>
          <p:cNvSpPr/>
          <p:nvPr/>
        </p:nvSpPr>
        <p:spPr>
          <a:xfrm>
            <a:off x="6223000" y="1803400"/>
            <a:ext cx="1168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9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해석 오류</a:t>
            </a:r>
          </a:p>
        </p:txBody>
      </p:sp>
      <p:sp>
        <p:nvSpPr>
          <p:cNvPr id="9" name="Risk">
            <a:extLst>
              <a:ext uri="{FF2B5EF4-FFF2-40B4-BE49-F238E27FC236}">
                <a16:creationId xmlns:a16="http://schemas.microsoft.com/office/drawing/2014/main" id="{41C3B6AF-B888-EDEA-AB46-548F5C5F3638}"/>
              </a:ext>
            </a:extLst>
          </p:cNvPr>
          <p:cNvSpPr/>
          <p:nvPr/>
        </p:nvSpPr>
        <p:spPr>
          <a:xfrm>
            <a:off x="6223000" y="2235200"/>
            <a:ext cx="4445000" cy="10414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시스템이 미복용의 실제 원인을 잘못 이해한 것처럼 보임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54C6538-F024-AD11-F79F-23AD240DA6E6}"/>
              </a:ext>
            </a:extLst>
          </p:cNvPr>
          <p:cNvSpPr/>
          <p:nvPr/>
        </p:nvSpPr>
        <p:spPr>
          <a:xfrm>
            <a:off x="1016000" y="3657600"/>
            <a:ext cx="1168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900" b="1">
                <a:solidFill>
                  <a:srgbClr val="7C3AE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우선순위 충돌</a:t>
            </a:r>
          </a:p>
        </p:txBody>
      </p:sp>
      <p:sp>
        <p:nvSpPr>
          <p:cNvPr id="11" name="Risk">
            <a:extLst>
              <a:ext uri="{FF2B5EF4-FFF2-40B4-BE49-F238E27FC236}">
                <a16:creationId xmlns:a16="http://schemas.microsoft.com/office/drawing/2014/main" id="{D0255CC0-28CF-D0FD-1916-356F63836E98}"/>
              </a:ext>
            </a:extLst>
          </p:cNvPr>
          <p:cNvSpPr/>
          <p:nvPr/>
        </p:nvSpPr>
        <p:spPr>
          <a:xfrm>
            <a:off x="1016000" y="4089400"/>
            <a:ext cx="4445000" cy="1041400"/>
          </a:xfrm>
          <a:prstGeom prst="rect">
            <a:avLst/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 확인이 필요한 상황에서 행동 보조 정책이 먼저 노출됨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0E294EE-FFD2-8053-A669-549E2E2DB533}"/>
              </a:ext>
            </a:extLst>
          </p:cNvPr>
          <p:cNvSpPr/>
          <p:nvPr/>
        </p:nvSpPr>
        <p:spPr>
          <a:xfrm>
            <a:off x="6223000" y="3657600"/>
            <a:ext cx="11684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9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신뢰 저하</a:t>
            </a:r>
          </a:p>
        </p:txBody>
      </p:sp>
      <p:sp>
        <p:nvSpPr>
          <p:cNvPr id="13" name="Risk">
            <a:extLst>
              <a:ext uri="{FF2B5EF4-FFF2-40B4-BE49-F238E27FC236}">
                <a16:creationId xmlns:a16="http://schemas.microsoft.com/office/drawing/2014/main" id="{03276740-1E08-A34A-2A57-C4F710927D06}"/>
              </a:ext>
            </a:extLst>
          </p:cNvPr>
          <p:cNvSpPr/>
          <p:nvPr/>
        </p:nvSpPr>
        <p:spPr>
          <a:xfrm>
            <a:off x="6223000" y="4089400"/>
            <a:ext cx="4445000" cy="1041400"/>
          </a:xfrm>
          <a:prstGeom prst="rect">
            <a:avLst/>
          </a:prstGeom>
          <a:solidFill>
            <a:srgbClr val="EFF6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평가와 정책 변경 흐름이 충돌하면 사용자 신뢰가 떨어짐</a:t>
            </a:r>
          </a:p>
        </p:txBody>
      </p:sp>
      <p:sp>
        <p:nvSpPr>
          <p:cNvPr id="14" name="PHR CTCAE">
            <a:extLst>
              <a:ext uri="{FF2B5EF4-FFF2-40B4-BE49-F238E27FC236}">
                <a16:creationId xmlns:a16="http://schemas.microsoft.com/office/drawing/2014/main" id="{6DC880C4-3FE7-BD0C-3D65-90F566CF78D0}"/>
              </a:ext>
            </a:extLst>
          </p:cNvPr>
          <p:cNvSpPr/>
          <p:nvPr/>
        </p:nvSpPr>
        <p:spPr>
          <a:xfrm>
            <a:off x="1422400" y="5461000"/>
            <a:ext cx="9347200" cy="609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PHR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주의사항과 증상이 연결되고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CTCAE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설문에서도 의미 있게 확인되면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변경보다 부작용 확인과 상담 안내가 우선이다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45E49722-DFA6-7A70-64FA-8339E61D524A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사용자 신뢰 관점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의료적 신호를 행동 보조 추천으로 덮지 않는다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C2CBD9DA-26D2-FF13-4E73-8F4032AAA184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7318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6AA699-9F2A-1833-6694-461E4ADF7DDE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41AB009-69C5-9D68-68DE-6758256C8D75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권장 정책 기준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C4E3091-A729-0765-957B-E44F32608C3E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단순 미복용 패턴 중심에서 미복용 원인 기반 조건부 추천으로 전환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16874B1-CB23-7BF4-5393-FD9D34676C8F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1B023E3-18A1-45AD-91BB-FD6AA0EC1D83}"/>
              </a:ext>
            </a:extLst>
          </p:cNvPr>
          <p:cNvSpPr/>
          <p:nvPr/>
        </p:nvSpPr>
        <p:spPr>
          <a:xfrm>
            <a:off x="965200" y="1651000"/>
            <a:ext cx="685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endParaRPr lang="ko-KR" altLang="en-US" sz="900" b="1">
              <a:solidFill>
                <a:srgbClr val="16A34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ignal">
            <a:extLst>
              <a:ext uri="{FF2B5EF4-FFF2-40B4-BE49-F238E27FC236}">
                <a16:creationId xmlns:a16="http://schemas.microsoft.com/office/drawing/2014/main" id="{DCF7A37F-4D29-8EBD-502D-68F7BD66B940}"/>
              </a:ext>
            </a:extLst>
          </p:cNvPr>
          <p:cNvSpPr/>
          <p:nvPr/>
        </p:nvSpPr>
        <p:spPr>
          <a:xfrm>
            <a:off x="1905000" y="1651000"/>
            <a:ext cx="393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단순 깜빡함 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확인 실패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48363E0-7A6C-4D97-C5E4-BDEC0726414F}"/>
              </a:ext>
            </a:extLst>
          </p:cNvPr>
          <p:cNvCxnSpPr/>
          <p:nvPr/>
        </p:nvCxnSpPr>
        <p:spPr>
          <a:xfrm>
            <a:off x="5918200" y="1993900"/>
            <a:ext cx="508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ction">
            <a:extLst>
              <a:ext uri="{FF2B5EF4-FFF2-40B4-BE49-F238E27FC236}">
                <a16:creationId xmlns:a16="http://schemas.microsoft.com/office/drawing/2014/main" id="{507CE301-E12A-B91B-2B68-88618B7F0AC3}"/>
              </a:ext>
            </a:extLst>
          </p:cNvPr>
          <p:cNvSpPr/>
          <p:nvPr/>
        </p:nvSpPr>
        <p:spPr>
          <a:xfrm>
            <a:off x="6629400" y="1651000"/>
            <a:ext cx="4445000" cy="685800"/>
          </a:xfrm>
          <a:prstGeom prst="rect">
            <a:avLst/>
          </a:prstGeom>
          <a:solidFill>
            <a:srgbClr val="F0FDF4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빈도나 주기 변경 후보 제안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F8C07C5-3B94-065C-3D4F-01D43116025A}"/>
              </a:ext>
            </a:extLst>
          </p:cNvPr>
          <p:cNvSpPr/>
          <p:nvPr/>
        </p:nvSpPr>
        <p:spPr>
          <a:xfrm>
            <a:off x="965200" y="2641600"/>
            <a:ext cx="685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endParaRPr lang="ko-KR" altLang="en-US" sz="900" b="1">
              <a:solidFill>
                <a:srgbClr val="D9770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Signal">
            <a:extLst>
              <a:ext uri="{FF2B5EF4-FFF2-40B4-BE49-F238E27FC236}">
                <a16:creationId xmlns:a16="http://schemas.microsoft.com/office/drawing/2014/main" id="{7E94C3DD-DA81-E4DE-1659-C980A9190EB8}"/>
              </a:ext>
            </a:extLst>
          </p:cNvPr>
          <p:cNvSpPr/>
          <p:nvPr/>
        </p:nvSpPr>
        <p:spPr>
          <a:xfrm>
            <a:off x="1905000" y="2641600"/>
            <a:ext cx="393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가능성은 있으나 원인 불명확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3393606-4B04-D641-0966-874779677EBC}"/>
              </a:ext>
            </a:extLst>
          </p:cNvPr>
          <p:cNvCxnSpPr/>
          <p:nvPr/>
        </p:nvCxnSpPr>
        <p:spPr>
          <a:xfrm>
            <a:off x="5918200" y="2984500"/>
            <a:ext cx="508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ction">
            <a:extLst>
              <a:ext uri="{FF2B5EF4-FFF2-40B4-BE49-F238E27FC236}">
                <a16:creationId xmlns:a16="http://schemas.microsoft.com/office/drawing/2014/main" id="{4923FCE4-1833-BBE9-9E45-3C7EC238850C}"/>
              </a:ext>
            </a:extLst>
          </p:cNvPr>
          <p:cNvSpPr/>
          <p:nvPr/>
        </p:nvSpPr>
        <p:spPr>
          <a:xfrm>
            <a:off x="6629400" y="2641600"/>
            <a:ext cx="4445000" cy="6858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임시 복약 보조 후보 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+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 확인 필요성 동시 안내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0872D26-FFCF-A537-51A5-8AB64E95025D}"/>
              </a:ext>
            </a:extLst>
          </p:cNvPr>
          <p:cNvSpPr/>
          <p:nvPr/>
        </p:nvSpPr>
        <p:spPr>
          <a:xfrm>
            <a:off x="965200" y="3632200"/>
            <a:ext cx="685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DC262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3</a:t>
            </a:r>
            <a:endParaRPr lang="ko-KR" altLang="en-US" sz="900" b="1">
              <a:solidFill>
                <a:srgbClr val="DC262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Signal">
            <a:extLst>
              <a:ext uri="{FF2B5EF4-FFF2-40B4-BE49-F238E27FC236}">
                <a16:creationId xmlns:a16="http://schemas.microsoft.com/office/drawing/2014/main" id="{35352302-C7E5-EA78-65D9-27356C67CB1F}"/>
              </a:ext>
            </a:extLst>
          </p:cNvPr>
          <p:cNvSpPr/>
          <p:nvPr/>
        </p:nvSpPr>
        <p:spPr>
          <a:xfrm>
            <a:off x="1905000" y="3632200"/>
            <a:ext cx="393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때문에 복용이 어려운 정황 강함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C3C95B5-11D0-B859-CD8A-99BC7CF499CA}"/>
              </a:ext>
            </a:extLst>
          </p:cNvPr>
          <p:cNvCxnSpPr/>
          <p:nvPr/>
        </p:nvCxnSpPr>
        <p:spPr>
          <a:xfrm>
            <a:off x="5918200" y="3975100"/>
            <a:ext cx="508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ction">
            <a:extLst>
              <a:ext uri="{FF2B5EF4-FFF2-40B4-BE49-F238E27FC236}">
                <a16:creationId xmlns:a16="http://schemas.microsoft.com/office/drawing/2014/main" id="{837DCC57-6451-78BE-9E46-6307A30EEC96}"/>
              </a:ext>
            </a:extLst>
          </p:cNvPr>
          <p:cNvSpPr/>
          <p:nvPr/>
        </p:nvSpPr>
        <p:spPr>
          <a:xfrm>
            <a:off x="6629400" y="3632200"/>
            <a:ext cx="4445000" cy="6858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강화 추천 보류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현행 유지와 상담 안내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413FB27-DFDB-5407-3BC4-67A7CE042FC3}"/>
              </a:ext>
            </a:extLst>
          </p:cNvPr>
          <p:cNvSpPr/>
          <p:nvPr/>
        </p:nvSpPr>
        <p:spPr>
          <a:xfrm>
            <a:off x="965200" y="4622800"/>
            <a:ext cx="685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en-US" altLang="ko-KR" sz="900" b="1">
                <a:solidFill>
                  <a:srgbClr val="7C3AE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</a:t>
            </a:r>
            <a:endParaRPr lang="ko-KR" altLang="en-US" sz="900" b="1">
              <a:solidFill>
                <a:srgbClr val="7C3AED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9" name="Signal">
            <a:extLst>
              <a:ext uri="{FF2B5EF4-FFF2-40B4-BE49-F238E27FC236}">
                <a16:creationId xmlns:a16="http://schemas.microsoft.com/office/drawing/2014/main" id="{AC97DEBE-6DA3-CE39-6AB8-C88D4E616071}"/>
              </a:ext>
            </a:extLst>
          </p:cNvPr>
          <p:cNvSpPr/>
          <p:nvPr/>
        </p:nvSpPr>
        <p:spPr>
          <a:xfrm>
            <a:off x="1905000" y="4622800"/>
            <a:ext cx="3937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심한 증상 또는 위험 신호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0B07B8A-8511-C695-8667-7107B8D66A21}"/>
              </a:ext>
            </a:extLst>
          </p:cNvPr>
          <p:cNvCxnSpPr/>
          <p:nvPr/>
        </p:nvCxnSpPr>
        <p:spPr>
          <a:xfrm>
            <a:off x="5918200" y="4965700"/>
            <a:ext cx="508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ction">
            <a:extLst>
              <a:ext uri="{FF2B5EF4-FFF2-40B4-BE49-F238E27FC236}">
                <a16:creationId xmlns:a16="http://schemas.microsoft.com/office/drawing/2014/main" id="{EBA744C9-2DCA-EE96-F3C9-AD3B1822BA2B}"/>
              </a:ext>
            </a:extLst>
          </p:cNvPr>
          <p:cNvSpPr/>
          <p:nvPr/>
        </p:nvSpPr>
        <p:spPr>
          <a:xfrm>
            <a:off x="6629400" y="4622800"/>
            <a:ext cx="4445000" cy="685800"/>
          </a:xfrm>
          <a:prstGeom prst="rect">
            <a:avLst/>
          </a:prstGeom>
          <a:solidFill>
            <a:srgbClr val="F5F3FF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변경 흐름 중단</a:t>
            </a:r>
            <a:r>
              <a:rPr lang="en-US" altLang="ko-KR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0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안전 안내와 의료진 연결 우선</a:t>
            </a:r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6B13FDBE-E5CC-0FC6-8421-6827BD22ADC0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추천 기준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미복용의 원인이 행동 보조 문제일 때만 알림 정책을 추천한다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848BB78B-14CF-ED02-6D8C-00164F707D83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4/6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7326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8CB43A3-4FA3-1C13-B532-454339FB591A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8A4A00B8-0743-4AA4-028E-9C80A3AC45B0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권장 의사결정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1CFE12D6-CBC0-71F1-EE4B-A6341DD0FC25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미복용이면 항상 알림을 강화한다는 기준을 버린다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5A44D74-2817-D53A-A7E1-76CC0628D8E6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Bad Rule">
            <a:extLst>
              <a:ext uri="{FF2B5EF4-FFF2-40B4-BE49-F238E27FC236}">
                <a16:creationId xmlns:a16="http://schemas.microsoft.com/office/drawing/2014/main" id="{A9E32BFA-8A85-48D7-81A3-C54AF1715B10}"/>
              </a:ext>
            </a:extLst>
          </p:cNvPr>
          <p:cNvSpPr/>
          <p:nvPr/>
        </p:nvSpPr>
        <p:spPr>
          <a:xfrm>
            <a:off x="1143000" y="1930400"/>
            <a:ext cx="4191000" cy="16510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기존 단순 기준</a:t>
            </a:r>
          </a:p>
          <a:p>
            <a:pPr algn="ctr"/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미복용이면 알림 강화 후보 제안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4AE9155-15C2-8256-4330-C0BCF0F51E01}"/>
              </a:ext>
            </a:extLst>
          </p:cNvPr>
          <p:cNvCxnSpPr/>
          <p:nvPr/>
        </p:nvCxnSpPr>
        <p:spPr>
          <a:xfrm>
            <a:off x="5461000" y="2743200"/>
            <a:ext cx="12700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Good Rule">
            <a:extLst>
              <a:ext uri="{FF2B5EF4-FFF2-40B4-BE49-F238E27FC236}">
                <a16:creationId xmlns:a16="http://schemas.microsoft.com/office/drawing/2014/main" id="{C7F21BA3-670B-E9A4-E66C-1E70F8EDA0FF}"/>
              </a:ext>
            </a:extLst>
          </p:cNvPr>
          <p:cNvSpPr/>
          <p:nvPr/>
        </p:nvSpPr>
        <p:spPr>
          <a:xfrm>
            <a:off x="6858000" y="1930400"/>
            <a:ext cx="4191000" cy="16510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권장 기준</a:t>
            </a:r>
          </a:p>
          <a:p>
            <a:pPr algn="ctr"/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반복 미복용의 원인이 행동 보조 문제일 때만 알림 정책 추천</a:t>
            </a:r>
          </a:p>
        </p:txBody>
      </p:sp>
      <p:sp>
        <p:nvSpPr>
          <p:cNvPr id="9" name="State Heading">
            <a:extLst>
              <a:ext uri="{FF2B5EF4-FFF2-40B4-BE49-F238E27FC236}">
                <a16:creationId xmlns:a16="http://schemas.microsoft.com/office/drawing/2014/main" id="{ADBC443E-8679-A63B-B3B9-24C272259896}"/>
              </a:ext>
            </a:extLst>
          </p:cNvPr>
          <p:cNvSpPr txBox="1"/>
          <p:nvPr/>
        </p:nvSpPr>
        <p:spPr>
          <a:xfrm>
            <a:off x="1498600" y="4191000"/>
            <a:ext cx="9144000" cy="359073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ctr"/>
            <a:r>
              <a:rPr lang="ko-KR" altLang="en-US" sz="15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새로 두면 좋은 상태</a:t>
            </a:r>
          </a:p>
        </p:txBody>
      </p:sp>
      <p:sp>
        <p:nvSpPr>
          <p:cNvPr id="10" name="Hold State">
            <a:extLst>
              <a:ext uri="{FF2B5EF4-FFF2-40B4-BE49-F238E27FC236}">
                <a16:creationId xmlns:a16="http://schemas.microsoft.com/office/drawing/2014/main" id="{431E2A12-311A-D4C8-B778-1C93EBE9F56E}"/>
              </a:ext>
            </a:extLst>
          </p:cNvPr>
          <p:cNvSpPr/>
          <p:nvPr/>
        </p:nvSpPr>
        <p:spPr>
          <a:xfrm>
            <a:off x="2057400" y="4648200"/>
            <a:ext cx="8077200" cy="736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7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변경 보류</a:t>
            </a:r>
            <a:r>
              <a:rPr lang="en-US" altLang="ko-KR" sz="17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7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확인 필요</a:t>
            </a:r>
          </a:p>
        </p:txBody>
      </p:sp>
      <p:sp>
        <p:nvSpPr>
          <p:cNvPr id="11" name="State Desc">
            <a:extLst>
              <a:ext uri="{FF2B5EF4-FFF2-40B4-BE49-F238E27FC236}">
                <a16:creationId xmlns:a16="http://schemas.microsoft.com/office/drawing/2014/main" id="{8C78A967-62F6-4D1A-5B81-A1497CD10914}"/>
              </a:ext>
            </a:extLst>
          </p:cNvPr>
          <p:cNvSpPr txBox="1"/>
          <p:nvPr/>
        </p:nvSpPr>
        <p:spPr>
          <a:xfrm>
            <a:off x="2057400" y="5486400"/>
            <a:ext cx="8077200" cy="297517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ctr"/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이 상태에서는 알림 강화보다 현행 유지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확인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의료진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약사 상담 안내를 우선 노출한다</a:t>
            </a:r>
            <a:r>
              <a:rPr lang="en-US" altLang="ko-KR" sz="11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7FAC603-BACF-6C55-4C83-96E0B4CDAF5B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제품 결정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강화는 복약 행동 보조가 필요한 상황에 한정한다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D426BC6-DD3F-0ED2-79D5-D33F03917E47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5/6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0355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FB7E4F-38F5-7479-0C0F-7A754C86440F}"/>
              </a:ext>
            </a:extLst>
          </p:cNvPr>
          <p:cNvSpPr/>
          <p:nvPr/>
        </p:nvSpPr>
        <p:spPr>
          <a:xfrm>
            <a:off x="431800" y="406400"/>
            <a:ext cx="63500" cy="584200"/>
          </a:xfrm>
          <a:prstGeom prst="rect">
            <a:avLst/>
          </a:prstGeom>
          <a:solidFill>
            <a:srgbClr val="2563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9A0F2BD-4927-07B4-2B59-8AB2ABBB534E}"/>
              </a:ext>
            </a:extLst>
          </p:cNvPr>
          <p:cNvSpPr txBox="1"/>
          <p:nvPr/>
        </p:nvSpPr>
        <p:spPr>
          <a:xfrm>
            <a:off x="685800" y="330200"/>
            <a:ext cx="9652000" cy="451406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2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기획 적용안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50D0DA17-1F40-F606-6B1E-A79D314C3EA7}"/>
              </a:ext>
            </a:extLst>
          </p:cNvPr>
          <p:cNvSpPr txBox="1"/>
          <p:nvPr/>
        </p:nvSpPr>
        <p:spPr>
          <a:xfrm>
            <a:off x="698500" y="787400"/>
            <a:ext cx="100330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10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추천 전에 원인 신호를 확인하는 한 단계를 추가한다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4536C55-989A-4140-4F7F-22E0D1E27232}"/>
              </a:ext>
            </a:extLst>
          </p:cNvPr>
          <p:cNvCxnSpPr/>
          <p:nvPr/>
        </p:nvCxnSpPr>
        <p:spPr>
          <a:xfrm>
            <a:off x="431800" y="1219200"/>
            <a:ext cx="112776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No">
            <a:extLst>
              <a:ext uri="{FF2B5EF4-FFF2-40B4-BE49-F238E27FC236}">
                <a16:creationId xmlns:a16="http://schemas.microsoft.com/office/drawing/2014/main" id="{D1EF3266-1219-664D-D47D-EAC32C6AA0C8}"/>
              </a:ext>
            </a:extLst>
          </p:cNvPr>
          <p:cNvSpPr txBox="1"/>
          <p:nvPr/>
        </p:nvSpPr>
        <p:spPr>
          <a:xfrm>
            <a:off x="1143000" y="1752600"/>
            <a:ext cx="5334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10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01</a:t>
            </a:r>
            <a:endParaRPr lang="ko-KR" altLang="en-US" sz="10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7" name="Step">
            <a:extLst>
              <a:ext uri="{FF2B5EF4-FFF2-40B4-BE49-F238E27FC236}">
                <a16:creationId xmlns:a16="http://schemas.microsoft.com/office/drawing/2014/main" id="{1493C71F-C6EE-0AF6-745E-846CB5D71553}"/>
              </a:ext>
            </a:extLst>
          </p:cNvPr>
          <p:cNvSpPr/>
          <p:nvPr/>
        </p:nvSpPr>
        <p:spPr>
          <a:xfrm>
            <a:off x="1143000" y="2082800"/>
            <a:ext cx="1905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미복용 패턴 감지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E1D2BD9-C246-56B8-32B9-9F65989A9E9D}"/>
              </a:ext>
            </a:extLst>
          </p:cNvPr>
          <p:cNvCxnSpPr/>
          <p:nvPr/>
        </p:nvCxnSpPr>
        <p:spPr>
          <a:xfrm>
            <a:off x="3048000" y="2565400"/>
            <a:ext cx="6096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No">
            <a:extLst>
              <a:ext uri="{FF2B5EF4-FFF2-40B4-BE49-F238E27FC236}">
                <a16:creationId xmlns:a16="http://schemas.microsoft.com/office/drawing/2014/main" id="{108CBCEE-AD97-EA6A-4D74-62A063C32584}"/>
              </a:ext>
            </a:extLst>
          </p:cNvPr>
          <p:cNvSpPr txBox="1"/>
          <p:nvPr/>
        </p:nvSpPr>
        <p:spPr>
          <a:xfrm>
            <a:off x="3810000" y="1752600"/>
            <a:ext cx="5334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1000" b="1">
                <a:solidFill>
                  <a:srgbClr val="2563E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02</a:t>
            </a:r>
            <a:endParaRPr lang="ko-KR" altLang="en-US" sz="1000" b="1">
              <a:solidFill>
                <a:srgbClr val="2563E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0" name="Step">
            <a:extLst>
              <a:ext uri="{FF2B5EF4-FFF2-40B4-BE49-F238E27FC236}">
                <a16:creationId xmlns:a16="http://schemas.microsoft.com/office/drawing/2014/main" id="{5B507565-4D48-2CF3-30DB-968170D7DF03}"/>
              </a:ext>
            </a:extLst>
          </p:cNvPr>
          <p:cNvSpPr/>
          <p:nvPr/>
        </p:nvSpPr>
        <p:spPr>
          <a:xfrm>
            <a:off x="3810000" y="2082800"/>
            <a:ext cx="1905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원인 신호 확인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CD59056-B1A9-A8E2-7B8B-A37F1FA8C412}"/>
              </a:ext>
            </a:extLst>
          </p:cNvPr>
          <p:cNvCxnSpPr/>
          <p:nvPr/>
        </p:nvCxnSpPr>
        <p:spPr>
          <a:xfrm>
            <a:off x="5715000" y="2565400"/>
            <a:ext cx="6096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 No">
            <a:extLst>
              <a:ext uri="{FF2B5EF4-FFF2-40B4-BE49-F238E27FC236}">
                <a16:creationId xmlns:a16="http://schemas.microsoft.com/office/drawing/2014/main" id="{26BD795E-2598-6FBC-9BEB-E198585A6EC2}"/>
              </a:ext>
            </a:extLst>
          </p:cNvPr>
          <p:cNvSpPr txBox="1"/>
          <p:nvPr/>
        </p:nvSpPr>
        <p:spPr>
          <a:xfrm>
            <a:off x="6477000" y="1752600"/>
            <a:ext cx="5334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1000" b="1">
                <a:solidFill>
                  <a:srgbClr val="D97706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03</a:t>
            </a:r>
            <a:endParaRPr lang="ko-KR" altLang="en-US" sz="1000" b="1">
              <a:solidFill>
                <a:srgbClr val="D97706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3" name="Step">
            <a:extLst>
              <a:ext uri="{FF2B5EF4-FFF2-40B4-BE49-F238E27FC236}">
                <a16:creationId xmlns:a16="http://schemas.microsoft.com/office/drawing/2014/main" id="{269C3E55-0FDC-4AB6-466C-8A7631C5CB59}"/>
              </a:ext>
            </a:extLst>
          </p:cNvPr>
          <p:cNvSpPr/>
          <p:nvPr/>
        </p:nvSpPr>
        <p:spPr>
          <a:xfrm>
            <a:off x="6477000" y="2082800"/>
            <a:ext cx="1905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가능성 판단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E64C8AC-1BEA-F0C2-C7EA-3B338BDCDB0E}"/>
              </a:ext>
            </a:extLst>
          </p:cNvPr>
          <p:cNvCxnSpPr/>
          <p:nvPr/>
        </p:nvCxnSpPr>
        <p:spPr>
          <a:xfrm>
            <a:off x="8382000" y="2565400"/>
            <a:ext cx="609600" cy="0"/>
          </a:xfrm>
          <a:prstGeom prst="line">
            <a:avLst/>
          </a:prstGeom>
          <a:ln w="15875">
            <a:solidFill>
              <a:srgbClr val="CBD5E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 No">
            <a:extLst>
              <a:ext uri="{FF2B5EF4-FFF2-40B4-BE49-F238E27FC236}">
                <a16:creationId xmlns:a16="http://schemas.microsoft.com/office/drawing/2014/main" id="{7478E094-0756-E6FA-31D8-9260F4B18B25}"/>
              </a:ext>
            </a:extLst>
          </p:cNvPr>
          <p:cNvSpPr txBox="1"/>
          <p:nvPr/>
        </p:nvSpPr>
        <p:spPr>
          <a:xfrm>
            <a:off x="9144000" y="1752600"/>
            <a:ext cx="533400" cy="282129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en-US" altLang="ko-KR" sz="1000" b="1">
                <a:solidFill>
                  <a:srgbClr val="16A34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04</a:t>
            </a:r>
            <a:endParaRPr lang="ko-KR" altLang="en-US" sz="1000" b="1">
              <a:solidFill>
                <a:srgbClr val="16A34A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6" name="Step">
            <a:extLst>
              <a:ext uri="{FF2B5EF4-FFF2-40B4-BE49-F238E27FC236}">
                <a16:creationId xmlns:a16="http://schemas.microsoft.com/office/drawing/2014/main" id="{2A5F47A9-E74D-AEE0-DA7F-120E7D536990}"/>
              </a:ext>
            </a:extLst>
          </p:cNvPr>
          <p:cNvSpPr/>
          <p:nvPr/>
        </p:nvSpPr>
        <p:spPr>
          <a:xfrm>
            <a:off x="9144000" y="2082800"/>
            <a:ext cx="1905000" cy="965200"/>
          </a:xfrm>
          <a:prstGeom prst="rect">
            <a:avLst/>
          </a:prstGeom>
          <a:solidFill>
            <a:srgbClr val="FFFFFF"/>
          </a:solidFill>
          <a:ln w="9525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추천 또는 보류</a:t>
            </a:r>
          </a:p>
        </p:txBody>
      </p:sp>
      <p:sp>
        <p:nvSpPr>
          <p:cNvPr id="17" name="Decision Rules">
            <a:extLst>
              <a:ext uri="{FF2B5EF4-FFF2-40B4-BE49-F238E27FC236}">
                <a16:creationId xmlns:a16="http://schemas.microsoft.com/office/drawing/2014/main" id="{F088946E-6C15-C68E-F039-791B8A009E2D}"/>
              </a:ext>
            </a:extLst>
          </p:cNvPr>
          <p:cNvSpPr/>
          <p:nvPr/>
        </p:nvSpPr>
        <p:spPr>
          <a:xfrm>
            <a:off x="1168400" y="3810000"/>
            <a:ext cx="4521200" cy="149860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추천 가능</a:t>
            </a:r>
          </a:p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깜빡함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미확인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생활 패턴 변화처럼 행동 보조가 필요한 경우</a:t>
            </a:r>
          </a:p>
        </p:txBody>
      </p:sp>
      <p:sp>
        <p:nvSpPr>
          <p:cNvPr id="18" name="Hold Rules">
            <a:extLst>
              <a:ext uri="{FF2B5EF4-FFF2-40B4-BE49-F238E27FC236}">
                <a16:creationId xmlns:a16="http://schemas.microsoft.com/office/drawing/2014/main" id="{DE221188-2530-FD1C-A0BA-C93324869D78}"/>
              </a:ext>
            </a:extLst>
          </p:cNvPr>
          <p:cNvSpPr/>
          <p:nvPr/>
        </p:nvSpPr>
        <p:spPr>
          <a:xfrm>
            <a:off x="6502400" y="3810000"/>
            <a:ext cx="4521200" cy="1498600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알림 추천 보류</a:t>
            </a:r>
          </a:p>
          <a:p>
            <a:pPr algn="ctr"/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부작용 정황이 강하거나 심한 증상</a:t>
            </a:r>
            <a:r>
              <a:rPr lang="en-US" altLang="ko-KR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2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위험 신호가 확인되는 경우</a:t>
            </a:r>
          </a:p>
        </p:txBody>
      </p:sp>
      <p:sp>
        <p:nvSpPr>
          <p:cNvPr id="19" name="Bottom">
            <a:extLst>
              <a:ext uri="{FF2B5EF4-FFF2-40B4-BE49-F238E27FC236}">
                <a16:creationId xmlns:a16="http://schemas.microsoft.com/office/drawing/2014/main" id="{9875E6F8-AF69-04A2-F7C7-6DB1A7F4A524}"/>
              </a:ext>
            </a:extLst>
          </p:cNvPr>
          <p:cNvSpPr/>
          <p:nvPr/>
        </p:nvSpPr>
        <p:spPr>
          <a:xfrm>
            <a:off x="1422400" y="5715000"/>
            <a:ext cx="9347200" cy="482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63500" rIns="88900" bIns="63500" rtlCol="0" anchor="ctr"/>
          <a:lstStyle/>
          <a:p>
            <a:pPr algn="ctr"/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핵심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정책 추천은 자동화하되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의료적 신호가 강하면 안전 안내와 상담 흐름이 우선한다</a:t>
            </a:r>
            <a:r>
              <a:rPr lang="en-US" altLang="ko-KR" sz="1100" b="1">
                <a:solidFill>
                  <a:srgbClr val="111827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100" b="1">
              <a:solidFill>
                <a:srgbClr val="111827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0" name="Footer">
            <a:extLst>
              <a:ext uri="{FF2B5EF4-FFF2-40B4-BE49-F238E27FC236}">
                <a16:creationId xmlns:a16="http://schemas.microsoft.com/office/drawing/2014/main" id="{558B0DD4-1A42-3BE3-8325-98D4BCC79DE2}"/>
              </a:ext>
            </a:extLst>
          </p:cNvPr>
          <p:cNvSpPr txBox="1"/>
          <p:nvPr/>
        </p:nvSpPr>
        <p:spPr>
          <a:xfrm>
            <a:off x="495300" y="6540500"/>
            <a:ext cx="9271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다음 액션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: 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원인 분류 기준과 보류 상태를 제품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프롬프트</a:t>
            </a:r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테스트에 반영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3B0BC1F3-0F05-2AFA-BE91-E5555E80623E}"/>
              </a:ext>
            </a:extLst>
          </p:cNvPr>
          <p:cNvSpPr txBox="1"/>
          <p:nvPr/>
        </p:nvSpPr>
        <p:spPr>
          <a:xfrm>
            <a:off x="11074400" y="6540500"/>
            <a:ext cx="635000" cy="251351"/>
          </a:xfrm>
          <a:prstGeom prst="rect">
            <a:avLst/>
          </a:prstGeom>
          <a:solidFill>
            <a:srgbClr val="FFFFFF"/>
          </a:solidFill>
        </p:spPr>
        <p:txBody>
          <a:bodyPr vert="horz" lIns="88900" tIns="63500" rIns="88900" bIns="63500" rtlCol="0">
            <a:spAutoFit/>
          </a:bodyPr>
          <a:lstStyle/>
          <a:p>
            <a:pPr algn="r"/>
            <a:r>
              <a:rPr lang="en-US" altLang="ko-KR" sz="800">
                <a:solidFill>
                  <a:srgbClr val="64748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6/6</a:t>
            </a:r>
            <a:endParaRPr lang="ko-KR" altLang="en-US" sz="800">
              <a:solidFill>
                <a:srgbClr val="64748B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85753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Office PowerPoint</Application>
  <PresentationFormat>사용자 지정</PresentationFormat>
  <Paragraphs>83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sunghyeon park</dc:creator>
  <cp:lastModifiedBy>sunghyeon park</cp:lastModifiedBy>
  <cp:revision>1</cp:revision>
  <dcterms:created xsi:type="dcterms:W3CDTF">2026-05-18T00:36:10Z</dcterms:created>
  <dcterms:modified xsi:type="dcterms:W3CDTF">2026-05-18T00:36:10Z</dcterms:modified>
</cp:coreProperties>
</file>