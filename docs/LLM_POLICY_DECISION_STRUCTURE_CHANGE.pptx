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16A8BA-C0D8-D0A8-E950-C15DA0D7B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00F2AC-26E0-361A-9B6D-B946331FC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47663A-A42C-ABED-ACC4-9C8D82E5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6E6E-C0A1-42DF-93DF-89129D0AEF5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4FAA72-E67F-70D3-47F8-C1715F43E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5FDAF1-A240-4559-FF61-FD3A98EE0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7D3F-9705-4173-8320-8F6EC8121B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81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195C21-9558-8AD4-9351-28281DC90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544F3B-3404-17FC-C8F4-31C52DCDB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5DCBFE-30E9-5244-FE75-E4DA3CEA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6E6E-C0A1-42DF-93DF-89129D0AEF5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E0FEB2-C990-DFDB-C89F-0FDF2B3B0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6BE5B6-EE7A-12C7-0C1D-BF23F86AF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7D3F-9705-4173-8320-8F6EC8121B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32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79D44-C8E9-D6D9-6156-D28BEEAC5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F45D93-071A-70E1-7930-67DD7E555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686AF9-44BE-AAA3-9706-AD98BDAA2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6E6E-C0A1-42DF-93DF-89129D0AEF5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F8D940-6DB8-D06D-436E-062F4A4C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A101F-5A5A-01ED-3A6B-671AE664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7D3F-9705-4173-8320-8F6EC8121B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652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30630C-78C6-E93B-C75D-E42C8E1B2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160362-978B-1875-243F-69BDB7781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8D163A-F859-8F3E-C7AD-28216F44D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E29376-6D49-34C9-FED8-65625B5CF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6E6E-C0A1-42DF-93DF-89129D0AEF5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BB368D-ED60-E44B-A969-F89FBE2F3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1F4314-E726-214B-51D9-B163CCBC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7D3F-9705-4173-8320-8F6EC8121B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909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C4C4A-A704-0542-24C5-A1AAD53D1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2AA257-628E-7EA6-8774-82D61DAC3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20B04E-385E-1FA4-B803-3F2F2AE23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9655BE-8D40-A0E9-9A5A-45EBA9DA2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C7228E1-98F0-77D1-6231-EC61A3976C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F028C08-2895-FCCA-CCC8-C7F8C246E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6E6E-C0A1-42DF-93DF-89129D0AEF5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B4483C-F573-7758-CA17-9223BEFF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7D3181C-E646-0D73-9FC5-D9EB6C32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7D3F-9705-4173-8320-8F6EC8121B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998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8731F-9EC3-014C-2DE4-5A60D4215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F1886BD-2518-BD1D-57F5-E3271F1C7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6E6E-C0A1-42DF-93DF-89129D0AEF5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3415B1-EDB1-1043-82CA-417FD2BF2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C62A84-6B19-6006-DA60-687B71CEE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7D3F-9705-4173-8320-8F6EC8121B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659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613253-A6F9-56EC-2C3E-4B4D635E8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6E6E-C0A1-42DF-93DF-89129D0AEF5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2CA5C71-5C07-BFB0-092C-C8C59C48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A1736D-73CB-51A3-6658-227E4B9A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7D3F-9705-4173-8320-8F6EC8121B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755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8EDF6-0D7C-203A-F679-9C5A78DF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55F781-8852-88B2-86E5-874A85276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4726A2-C3F0-83E7-DEB6-693321D67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84AA16-6ACE-3019-2935-7F5CA28E4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6E6E-C0A1-42DF-93DF-89129D0AEF5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FA417D-F396-FDA0-5736-77C7B1B8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2DBDF5-B018-8DC4-DD73-77D25D52C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7D3F-9705-4173-8320-8F6EC8121B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979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B0E55-C836-53C0-F808-219D63DBF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785F18-48BE-C3B7-3ABE-78BCA9818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78FD49-183B-87A3-22A3-9F5073E8D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861803-CF08-E4C4-CF2C-F5413EB3E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6E6E-C0A1-42DF-93DF-89129D0AEF5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5D58F5-2472-473B-0CDF-35CC5F2E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1B5AD3-2F30-F79A-718E-4B7BDE4C6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7D3F-9705-4173-8320-8F6EC8121B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105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FEF3B-2520-CE3A-48E5-30B58F26F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03BFFB-70D6-9FB9-3248-45A072A9A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DF00E1-9CBA-8111-0CB7-19DD21A0F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6E6E-C0A1-42DF-93DF-89129D0AEF5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22357F-E6A1-557D-E691-E5E5DC24D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48E179-EC67-F0EB-35F6-6694954A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7D3F-9705-4173-8320-8F6EC8121B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496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E97F65-B024-E75E-89E8-F71A88073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D258C1-CFE9-5368-91FB-FF5649031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5E0985-3805-9410-882D-219C82178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6E6E-C0A1-42DF-93DF-89129D0AEF5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45749-25D1-E367-398A-0F34DD3B0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0827D4-2987-FDCF-6DBB-344F9236F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B7D3F-9705-4173-8320-8F6EC8121B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316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3AFE50-07DC-3F8D-C440-F6DD3617F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C8275A-224A-89C2-0997-FA128F2B3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E39D9B-1AAB-1CA4-5CE1-946FE7144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276E6E-C0A1-42DF-93DF-89129D0AEF5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3E1E43-4B6F-2303-69A2-CB4014EC6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7D99F5-DDDF-F9D4-5356-446DBFB1E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4B7D3F-9705-4173-8320-8F6EC8121B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39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978FE41-67DB-526A-7A36-792404A2410D}"/>
              </a:ext>
            </a:extLst>
          </p:cNvPr>
          <p:cNvSpPr/>
          <p:nvPr/>
        </p:nvSpPr>
        <p:spPr>
          <a:xfrm>
            <a:off x="431800" y="4064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8B7ECD8-D690-E5B0-1CDE-C29260DF775B}"/>
              </a:ext>
            </a:extLst>
          </p:cNvPr>
          <p:cNvSpPr txBox="1"/>
          <p:nvPr/>
        </p:nvSpPr>
        <p:spPr>
          <a:xfrm>
            <a:off x="685800" y="330200"/>
            <a:ext cx="9652000" cy="451406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en-US" altLang="ko-KR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LLM </a:t>
            </a:r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중심 정책 결정 구조 변경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26273060-22EB-AB8F-1003-EC8A69A5D75A}"/>
              </a:ext>
            </a:extLst>
          </p:cNvPr>
          <p:cNvSpPr txBox="1"/>
          <p:nvPr/>
        </p:nvSpPr>
        <p:spPr>
          <a:xfrm>
            <a:off x="698500" y="787400"/>
            <a:ext cx="10033000" cy="282129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휴리스틱 후보 생성에서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LLM 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의사결정 구조로 전환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B298AAE-86E3-45F7-20D4-01F50D456093}"/>
              </a:ext>
            </a:extLst>
          </p:cNvPr>
          <p:cNvCxnSpPr/>
          <p:nvPr/>
        </p:nvCxnSpPr>
        <p:spPr>
          <a:xfrm>
            <a:off x="431800" y="12192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ain">
            <a:extLst>
              <a:ext uri="{FF2B5EF4-FFF2-40B4-BE49-F238E27FC236}">
                <a16:creationId xmlns:a16="http://schemas.microsoft.com/office/drawing/2014/main" id="{DA0D3364-BBF6-94A4-60D6-CE7FBA8A60AB}"/>
              </a:ext>
            </a:extLst>
          </p:cNvPr>
          <p:cNvSpPr txBox="1"/>
          <p:nvPr/>
        </p:nvSpPr>
        <p:spPr>
          <a:xfrm>
            <a:off x="889000" y="1625600"/>
            <a:ext cx="10414000" cy="77457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정책값을 휴리스틱이 먼저 정하지 않고</a:t>
            </a:r>
            <a:r>
              <a:rPr lang="en-US" altLang="ko-KR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</a:t>
            </a:r>
          </a:p>
          <a:p>
            <a:r>
              <a:rPr lang="en-US" altLang="ko-KR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LLM</a:t>
            </a:r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관찰 자료를 바탕으로 </a:t>
            </a:r>
            <a:r>
              <a:rPr lang="en-US" altLang="ko-KR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policy_action</a:t>
            </a:r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결정한다</a:t>
            </a:r>
            <a:r>
              <a:rPr lang="en-US" altLang="ko-KR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21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Before">
            <a:extLst>
              <a:ext uri="{FF2B5EF4-FFF2-40B4-BE49-F238E27FC236}">
                <a16:creationId xmlns:a16="http://schemas.microsoft.com/office/drawing/2014/main" id="{9671A7FE-9C25-F5F0-FE16-B9B46B870B64}"/>
              </a:ext>
            </a:extLst>
          </p:cNvPr>
          <p:cNvSpPr/>
          <p:nvPr/>
        </p:nvSpPr>
        <p:spPr>
          <a:xfrm>
            <a:off x="1219200" y="3200400"/>
            <a:ext cx="4191000" cy="139700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변경 전</a:t>
            </a:r>
          </a:p>
          <a:p>
            <a:pPr algn="ctr"/>
            <a:r>
              <a:rPr lang="en-US" altLang="ko-KR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miss_rate </a:t>
            </a:r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기반 휴리스틱이 추가 알림 후보를 먼저 생성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182A98C-E14B-2296-9C7B-72A5701A7A21}"/>
              </a:ext>
            </a:extLst>
          </p:cNvPr>
          <p:cNvCxnSpPr/>
          <p:nvPr/>
        </p:nvCxnSpPr>
        <p:spPr>
          <a:xfrm>
            <a:off x="5461000" y="3898900"/>
            <a:ext cx="12700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fter">
            <a:extLst>
              <a:ext uri="{FF2B5EF4-FFF2-40B4-BE49-F238E27FC236}">
                <a16:creationId xmlns:a16="http://schemas.microsoft.com/office/drawing/2014/main" id="{59C8FA8D-0718-D618-A5CE-609CF42ADA9E}"/>
              </a:ext>
            </a:extLst>
          </p:cNvPr>
          <p:cNvSpPr/>
          <p:nvPr/>
        </p:nvSpPr>
        <p:spPr>
          <a:xfrm>
            <a:off x="6858000" y="3200400"/>
            <a:ext cx="4191000" cy="139700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변경 후</a:t>
            </a:r>
          </a:p>
          <a:p>
            <a:pPr algn="ctr"/>
            <a:r>
              <a:rPr lang="en-US" altLang="ko-KR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LLM</a:t>
            </a:r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</a:t>
            </a:r>
            <a:r>
              <a:rPr lang="en-US" altLang="ko-KR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increase / keep / pause / ask / escalate</a:t>
            </a:r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직접 선택</a:t>
            </a:r>
          </a:p>
        </p:txBody>
      </p:sp>
      <p:sp>
        <p:nvSpPr>
          <p:cNvPr id="10" name="Takeaway">
            <a:extLst>
              <a:ext uri="{FF2B5EF4-FFF2-40B4-BE49-F238E27FC236}">
                <a16:creationId xmlns:a16="http://schemas.microsoft.com/office/drawing/2014/main" id="{D95BF0A5-70C5-4149-4EF2-66497E75A3FF}"/>
              </a:ext>
            </a:extLst>
          </p:cNvPr>
          <p:cNvSpPr/>
          <p:nvPr/>
        </p:nvSpPr>
        <p:spPr>
          <a:xfrm>
            <a:off x="1422400" y="5461000"/>
            <a:ext cx="9347200" cy="6096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 변화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LLM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후보 변환자가 아니라 정책 의사결정자가 되고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system_app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안전 검증에 집중한다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9B85367F-C000-9085-A103-9CAE2ED10F2E}"/>
              </a:ext>
            </a:extLst>
          </p:cNvPr>
          <p:cNvSpPr txBox="1"/>
          <p:nvPr/>
        </p:nvSpPr>
        <p:spPr>
          <a:xfrm>
            <a:off x="495300" y="6540500"/>
            <a:ext cx="9271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LLM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중심 정책 결정 구조 변경 요약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86CEBC75-8DED-3532-16DA-1FEB9B1618F6}"/>
              </a:ext>
            </a:extLst>
          </p:cNvPr>
          <p:cNvSpPr txBox="1"/>
          <p:nvPr/>
        </p:nvSpPr>
        <p:spPr>
          <a:xfrm>
            <a:off x="11074400" y="6540500"/>
            <a:ext cx="635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pPr algn="r"/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1/5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4382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86A0052-F7AC-7703-2EA7-0785E91FE9C2}"/>
              </a:ext>
            </a:extLst>
          </p:cNvPr>
          <p:cNvSpPr/>
          <p:nvPr/>
        </p:nvSpPr>
        <p:spPr>
          <a:xfrm>
            <a:off x="431800" y="4064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ABD7173-7BCA-950F-F50C-35E0A86530A2}"/>
              </a:ext>
            </a:extLst>
          </p:cNvPr>
          <p:cNvSpPr txBox="1"/>
          <p:nvPr/>
        </p:nvSpPr>
        <p:spPr>
          <a:xfrm>
            <a:off x="685800" y="330200"/>
            <a:ext cx="9652000" cy="451406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변경 전</a:t>
            </a:r>
            <a:r>
              <a:rPr lang="en-US" altLang="ko-KR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후 구조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4ABA97C-E225-2427-49D2-06222363FCEC}"/>
              </a:ext>
            </a:extLst>
          </p:cNvPr>
          <p:cNvSpPr txBox="1"/>
          <p:nvPr/>
        </p:nvSpPr>
        <p:spPr>
          <a:xfrm>
            <a:off x="698500" y="787400"/>
            <a:ext cx="10033000" cy="282129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후보를 먼저 만들던 흐름을 정책 액션 결정 흐름으로 바꿈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4BC69E4-9090-1937-4EE9-0B173C4A79CA}"/>
              </a:ext>
            </a:extLst>
          </p:cNvPr>
          <p:cNvCxnSpPr/>
          <p:nvPr/>
        </p:nvCxnSpPr>
        <p:spPr>
          <a:xfrm>
            <a:off x="431800" y="12192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E3081D6-CFF1-F176-92B4-B0276EFBFCF1}"/>
              </a:ext>
            </a:extLst>
          </p:cNvPr>
          <p:cNvSpPr/>
          <p:nvPr/>
        </p:nvSpPr>
        <p:spPr>
          <a:xfrm>
            <a:off x="1168400" y="1651000"/>
            <a:ext cx="9144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DC262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Before</a:t>
            </a:r>
            <a:endParaRPr lang="ko-KR" altLang="en-US" sz="900" b="1">
              <a:solidFill>
                <a:srgbClr val="DC262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Before Step">
            <a:extLst>
              <a:ext uri="{FF2B5EF4-FFF2-40B4-BE49-F238E27FC236}">
                <a16:creationId xmlns:a16="http://schemas.microsoft.com/office/drawing/2014/main" id="{9DCF8CEB-7D85-344B-145C-7D4DCCB895D2}"/>
              </a:ext>
            </a:extLst>
          </p:cNvPr>
          <p:cNvSpPr/>
          <p:nvPr/>
        </p:nvSpPr>
        <p:spPr>
          <a:xfrm>
            <a:off x="1143000" y="2159000"/>
            <a:ext cx="14986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Daily Pattern </a:t>
            </a:r>
            <a:r>
              <a:rPr lang="ko-KR" altLang="en-US" sz="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입력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FE2920C-0BB0-241A-D82B-374AA7FF001E}"/>
              </a:ext>
            </a:extLst>
          </p:cNvPr>
          <p:cNvCxnSpPr/>
          <p:nvPr/>
        </p:nvCxnSpPr>
        <p:spPr>
          <a:xfrm>
            <a:off x="2641600" y="2527300"/>
            <a:ext cx="4064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efore Step">
            <a:extLst>
              <a:ext uri="{FF2B5EF4-FFF2-40B4-BE49-F238E27FC236}">
                <a16:creationId xmlns:a16="http://schemas.microsoft.com/office/drawing/2014/main" id="{0FF9F8D8-A3CA-0223-9B4A-35C0B5E1653D}"/>
              </a:ext>
            </a:extLst>
          </p:cNvPr>
          <p:cNvSpPr/>
          <p:nvPr/>
        </p:nvSpPr>
        <p:spPr>
          <a:xfrm>
            <a:off x="3175000" y="2159000"/>
            <a:ext cx="14986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Pattern Analyzer</a:t>
            </a:r>
            <a:endParaRPr lang="ko-KR" altLang="en-US" sz="9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B29D9B5-F32E-6CC4-48A7-ED508AFAB07F}"/>
              </a:ext>
            </a:extLst>
          </p:cNvPr>
          <p:cNvCxnSpPr/>
          <p:nvPr/>
        </p:nvCxnSpPr>
        <p:spPr>
          <a:xfrm>
            <a:off x="4673600" y="2527300"/>
            <a:ext cx="4064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Before Step">
            <a:extLst>
              <a:ext uri="{FF2B5EF4-FFF2-40B4-BE49-F238E27FC236}">
                <a16:creationId xmlns:a16="http://schemas.microsoft.com/office/drawing/2014/main" id="{FAC81508-F3A2-8E85-FC49-11187BEF269F}"/>
              </a:ext>
            </a:extLst>
          </p:cNvPr>
          <p:cNvSpPr/>
          <p:nvPr/>
        </p:nvSpPr>
        <p:spPr>
          <a:xfrm>
            <a:off x="5207000" y="2159000"/>
            <a:ext cx="14986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휴리스틱 후보 생성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3B76946-BA6C-867C-9C8A-9CE0B3A27CE9}"/>
              </a:ext>
            </a:extLst>
          </p:cNvPr>
          <p:cNvCxnSpPr/>
          <p:nvPr/>
        </p:nvCxnSpPr>
        <p:spPr>
          <a:xfrm>
            <a:off x="6705600" y="2527300"/>
            <a:ext cx="4064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Before Step">
            <a:extLst>
              <a:ext uri="{FF2B5EF4-FFF2-40B4-BE49-F238E27FC236}">
                <a16:creationId xmlns:a16="http://schemas.microsoft.com/office/drawing/2014/main" id="{346176DD-8BFE-B97D-C5DF-D7F936493C2E}"/>
              </a:ext>
            </a:extLst>
          </p:cNvPr>
          <p:cNvSpPr/>
          <p:nvPr/>
        </p:nvSpPr>
        <p:spPr>
          <a:xfrm>
            <a:off x="7239000" y="2159000"/>
            <a:ext cx="14986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Policy Planner</a:t>
            </a:r>
            <a:endParaRPr lang="ko-KR" altLang="en-US" sz="9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B09B7F1-9093-C32D-DFE6-351E93858D4C}"/>
              </a:ext>
            </a:extLst>
          </p:cNvPr>
          <p:cNvCxnSpPr/>
          <p:nvPr/>
        </p:nvCxnSpPr>
        <p:spPr>
          <a:xfrm>
            <a:off x="8737600" y="2527300"/>
            <a:ext cx="4064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Before Step">
            <a:extLst>
              <a:ext uri="{FF2B5EF4-FFF2-40B4-BE49-F238E27FC236}">
                <a16:creationId xmlns:a16="http://schemas.microsoft.com/office/drawing/2014/main" id="{B7583791-EB8B-9BB2-2923-4C3C571185F8}"/>
              </a:ext>
            </a:extLst>
          </p:cNvPr>
          <p:cNvSpPr/>
          <p:nvPr/>
        </p:nvSpPr>
        <p:spPr>
          <a:xfrm>
            <a:off x="9271000" y="2159000"/>
            <a:ext cx="14986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 call </a:t>
            </a:r>
            <a:r>
              <a:rPr lang="ko-KR" altLang="en-US" sz="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변환</a:t>
            </a:r>
          </a:p>
        </p:txBody>
      </p:sp>
      <p:sp>
        <p:nvSpPr>
          <p:cNvPr id="16" name="Before Note">
            <a:extLst>
              <a:ext uri="{FF2B5EF4-FFF2-40B4-BE49-F238E27FC236}">
                <a16:creationId xmlns:a16="http://schemas.microsoft.com/office/drawing/2014/main" id="{490F720A-B978-1444-341B-B9EA24A4D3E0}"/>
              </a:ext>
            </a:extLst>
          </p:cNvPr>
          <p:cNvSpPr txBox="1"/>
          <p:nvPr/>
        </p:nvSpPr>
        <p:spPr>
          <a:xfrm>
            <a:off x="1371600" y="3149600"/>
            <a:ext cx="9448800" cy="297517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한계</a:t>
            </a:r>
            <a:r>
              <a:rPr lang="en-US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정책값 결정이 휴리스틱 단계에서 이미 끝나고</a:t>
            </a:r>
            <a:r>
              <a:rPr lang="en-US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LLM</a:t>
            </a:r>
            <a:r>
              <a:rPr lang="ko-KR" altLang="en-US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후보 변환자에 가까웠다</a:t>
            </a:r>
            <a:r>
              <a:rPr lang="en-US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370544A-D381-EFF1-E45A-8D076604DA31}"/>
              </a:ext>
            </a:extLst>
          </p:cNvPr>
          <p:cNvSpPr/>
          <p:nvPr/>
        </p:nvSpPr>
        <p:spPr>
          <a:xfrm>
            <a:off x="1168400" y="3962400"/>
            <a:ext cx="9144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16A34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After</a:t>
            </a:r>
            <a:endParaRPr lang="ko-KR" altLang="en-US" sz="900" b="1">
              <a:solidFill>
                <a:srgbClr val="16A34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After Step">
            <a:extLst>
              <a:ext uri="{FF2B5EF4-FFF2-40B4-BE49-F238E27FC236}">
                <a16:creationId xmlns:a16="http://schemas.microsoft.com/office/drawing/2014/main" id="{6ECB2BCB-8771-43C9-AD84-C1C651D71532}"/>
              </a:ext>
            </a:extLst>
          </p:cNvPr>
          <p:cNvSpPr/>
          <p:nvPr/>
        </p:nvSpPr>
        <p:spPr>
          <a:xfrm>
            <a:off x="1143000" y="4470400"/>
            <a:ext cx="14986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Daily Pattern </a:t>
            </a:r>
            <a:r>
              <a:rPr lang="ko-KR" altLang="en-US" sz="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입력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751C836-B2FA-0064-BFB1-329804791B4B}"/>
              </a:ext>
            </a:extLst>
          </p:cNvPr>
          <p:cNvCxnSpPr/>
          <p:nvPr/>
        </p:nvCxnSpPr>
        <p:spPr>
          <a:xfrm>
            <a:off x="2641600" y="4838700"/>
            <a:ext cx="4064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fter Step">
            <a:extLst>
              <a:ext uri="{FF2B5EF4-FFF2-40B4-BE49-F238E27FC236}">
                <a16:creationId xmlns:a16="http://schemas.microsoft.com/office/drawing/2014/main" id="{4D929826-7179-302F-91B0-4D114A637F32}"/>
              </a:ext>
            </a:extLst>
          </p:cNvPr>
          <p:cNvSpPr/>
          <p:nvPr/>
        </p:nvSpPr>
        <p:spPr>
          <a:xfrm>
            <a:off x="3175000" y="4470400"/>
            <a:ext cx="14986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Pattern Features</a:t>
            </a:r>
            <a:endParaRPr lang="ko-KR" altLang="en-US" sz="9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5ED2E01-B6BD-F8EE-E6DA-08FE39CA8CD4}"/>
              </a:ext>
            </a:extLst>
          </p:cNvPr>
          <p:cNvCxnSpPr/>
          <p:nvPr/>
        </p:nvCxnSpPr>
        <p:spPr>
          <a:xfrm>
            <a:off x="4673600" y="4838700"/>
            <a:ext cx="4064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After Step">
            <a:extLst>
              <a:ext uri="{FF2B5EF4-FFF2-40B4-BE49-F238E27FC236}">
                <a16:creationId xmlns:a16="http://schemas.microsoft.com/office/drawing/2014/main" id="{2B6EED17-9F82-D79A-5C5F-797C1C336B74}"/>
              </a:ext>
            </a:extLst>
          </p:cNvPr>
          <p:cNvSpPr/>
          <p:nvPr/>
        </p:nvSpPr>
        <p:spPr>
          <a:xfrm>
            <a:off x="5207000" y="4470400"/>
            <a:ext cx="14986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Policy Planner LLM</a:t>
            </a:r>
            <a:endParaRPr lang="ko-KR" altLang="en-US" sz="9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4BFE097-0571-A34B-26D8-08B72FB90D13}"/>
              </a:ext>
            </a:extLst>
          </p:cNvPr>
          <p:cNvCxnSpPr/>
          <p:nvPr/>
        </p:nvCxnSpPr>
        <p:spPr>
          <a:xfrm>
            <a:off x="6705600" y="4838700"/>
            <a:ext cx="4064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After Step">
            <a:extLst>
              <a:ext uri="{FF2B5EF4-FFF2-40B4-BE49-F238E27FC236}">
                <a16:creationId xmlns:a16="http://schemas.microsoft.com/office/drawing/2014/main" id="{AF828E99-A129-1E76-697E-677A327A763B}"/>
              </a:ext>
            </a:extLst>
          </p:cNvPr>
          <p:cNvSpPr/>
          <p:nvPr/>
        </p:nvSpPr>
        <p:spPr>
          <a:xfrm>
            <a:off x="7239000" y="4470400"/>
            <a:ext cx="14986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policy_action</a:t>
            </a:r>
            <a:endParaRPr lang="ko-KR" altLang="en-US" sz="9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D0F0F7D-8C2A-AB2C-16A9-28C0DB9C50F8}"/>
              </a:ext>
            </a:extLst>
          </p:cNvPr>
          <p:cNvCxnSpPr/>
          <p:nvPr/>
        </p:nvCxnSpPr>
        <p:spPr>
          <a:xfrm>
            <a:off x="8737600" y="4838700"/>
            <a:ext cx="4064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fter Step">
            <a:extLst>
              <a:ext uri="{FF2B5EF4-FFF2-40B4-BE49-F238E27FC236}">
                <a16:creationId xmlns:a16="http://schemas.microsoft.com/office/drawing/2014/main" id="{48D0512E-76A5-432A-E67F-D9E373DA629F}"/>
              </a:ext>
            </a:extLst>
          </p:cNvPr>
          <p:cNvSpPr/>
          <p:nvPr/>
        </p:nvSpPr>
        <p:spPr>
          <a:xfrm>
            <a:off x="9271000" y="4470400"/>
            <a:ext cx="14986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안전 검증</a:t>
            </a:r>
            <a:r>
              <a:rPr lang="en-US" altLang="ko-KR" sz="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알림</a:t>
            </a:r>
          </a:p>
        </p:txBody>
      </p:sp>
      <p:sp>
        <p:nvSpPr>
          <p:cNvPr id="27" name="After Note">
            <a:extLst>
              <a:ext uri="{FF2B5EF4-FFF2-40B4-BE49-F238E27FC236}">
                <a16:creationId xmlns:a16="http://schemas.microsoft.com/office/drawing/2014/main" id="{E2CECA73-43A3-A97D-9072-E9D5D07AE3DE}"/>
              </a:ext>
            </a:extLst>
          </p:cNvPr>
          <p:cNvSpPr txBox="1"/>
          <p:nvPr/>
        </p:nvSpPr>
        <p:spPr>
          <a:xfrm>
            <a:off x="1371600" y="5461000"/>
            <a:ext cx="9448800" cy="297517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변경</a:t>
            </a:r>
            <a:r>
              <a:rPr lang="en-US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휴리스틱은 관찰 요약만 만들고</a:t>
            </a:r>
            <a:r>
              <a:rPr lang="en-US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LLM</a:t>
            </a:r>
            <a:r>
              <a:rPr lang="ko-KR" altLang="en-US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정책 액션을 선택한다</a:t>
            </a:r>
            <a:r>
              <a:rPr lang="en-US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8" name="Footer">
            <a:extLst>
              <a:ext uri="{FF2B5EF4-FFF2-40B4-BE49-F238E27FC236}">
                <a16:creationId xmlns:a16="http://schemas.microsoft.com/office/drawing/2014/main" id="{FBF014B3-D36D-DDDE-A54F-E8DCBEB97D40}"/>
              </a:ext>
            </a:extLst>
          </p:cNvPr>
          <p:cNvSpPr txBox="1"/>
          <p:nvPr/>
        </p:nvSpPr>
        <p:spPr>
          <a:xfrm>
            <a:off x="495300" y="6540500"/>
            <a:ext cx="9271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 변화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후보 생성 중심에서 액션 결정 중심으로 이동</a:t>
            </a:r>
          </a:p>
        </p:txBody>
      </p:sp>
      <p:sp>
        <p:nvSpPr>
          <p:cNvPr id="29" name="Slide Number">
            <a:extLst>
              <a:ext uri="{FF2B5EF4-FFF2-40B4-BE49-F238E27FC236}">
                <a16:creationId xmlns:a16="http://schemas.microsoft.com/office/drawing/2014/main" id="{1B3D1657-8A32-D370-1BBA-D98B9023828E}"/>
              </a:ext>
            </a:extLst>
          </p:cNvPr>
          <p:cNvSpPr txBox="1"/>
          <p:nvPr/>
        </p:nvSpPr>
        <p:spPr>
          <a:xfrm>
            <a:off x="11074400" y="6540500"/>
            <a:ext cx="635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pPr algn="r"/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2/5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3102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19CFC97-AA96-59CB-DCE3-BAE911E39F94}"/>
              </a:ext>
            </a:extLst>
          </p:cNvPr>
          <p:cNvSpPr/>
          <p:nvPr/>
        </p:nvSpPr>
        <p:spPr>
          <a:xfrm>
            <a:off x="431800" y="4064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487D179-A0F4-A3EE-0A18-B11257E4BF0F}"/>
              </a:ext>
            </a:extLst>
          </p:cNvPr>
          <p:cNvSpPr txBox="1"/>
          <p:nvPr/>
        </p:nvSpPr>
        <p:spPr>
          <a:xfrm>
            <a:off x="685800" y="330200"/>
            <a:ext cx="9652000" cy="451406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구현 포인트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5D80287-33C8-6407-5715-A4A3358CEA73}"/>
              </a:ext>
            </a:extLst>
          </p:cNvPr>
          <p:cNvSpPr txBox="1"/>
          <p:nvPr/>
        </p:nvSpPr>
        <p:spPr>
          <a:xfrm>
            <a:off x="698500" y="787400"/>
            <a:ext cx="10033000" cy="282129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후보 생성 로직을 제거하고 판단 상태를 구조화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FF6D120-667F-4B6E-5CED-B0D6A9902A6C}"/>
              </a:ext>
            </a:extLst>
          </p:cNvPr>
          <p:cNvCxnSpPr/>
          <p:nvPr/>
        </p:nvCxnSpPr>
        <p:spPr>
          <a:xfrm>
            <a:off x="431800" y="12192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92A5184-F350-0F91-0232-6103CAAAC57F}"/>
              </a:ext>
            </a:extLst>
          </p:cNvPr>
          <p:cNvSpPr/>
          <p:nvPr/>
        </p:nvSpPr>
        <p:spPr>
          <a:xfrm>
            <a:off x="990600" y="1676400"/>
            <a:ext cx="6604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DC262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endParaRPr lang="ko-KR" altLang="en-US" sz="900" b="1">
              <a:solidFill>
                <a:srgbClr val="DC262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Implementation">
            <a:extLst>
              <a:ext uri="{FF2B5EF4-FFF2-40B4-BE49-F238E27FC236}">
                <a16:creationId xmlns:a16="http://schemas.microsoft.com/office/drawing/2014/main" id="{67F856F4-7EC4-2D49-A532-ABDB1ADE3270}"/>
              </a:ext>
            </a:extLst>
          </p:cNvPr>
          <p:cNvSpPr/>
          <p:nvPr/>
        </p:nvSpPr>
        <p:spPr>
          <a:xfrm>
            <a:off x="990600" y="2108200"/>
            <a:ext cx="4495800" cy="10414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휴리스틱 후보 제거</a:t>
            </a:r>
          </a:p>
          <a:p>
            <a:pPr algn="ctr"/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daily pattern 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경로에서 </a:t>
            </a:r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suggest_policies_from_features() 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호출 제거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68DB367-C430-CF7F-BB40-D07AC18567CE}"/>
              </a:ext>
            </a:extLst>
          </p:cNvPr>
          <p:cNvSpPr/>
          <p:nvPr/>
        </p:nvSpPr>
        <p:spPr>
          <a:xfrm>
            <a:off x="6223000" y="1676400"/>
            <a:ext cx="6604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2563E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endParaRPr lang="ko-KR" altLang="en-US" sz="900" b="1">
              <a:solidFill>
                <a:srgbClr val="2563E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Implementation">
            <a:extLst>
              <a:ext uri="{FF2B5EF4-FFF2-40B4-BE49-F238E27FC236}">
                <a16:creationId xmlns:a16="http://schemas.microsoft.com/office/drawing/2014/main" id="{4EA1E9D1-B94F-87FF-C72F-BD3DE2A0D3E7}"/>
              </a:ext>
            </a:extLst>
          </p:cNvPr>
          <p:cNvSpPr/>
          <p:nvPr/>
        </p:nvSpPr>
        <p:spPr>
          <a:xfrm>
            <a:off x="6223000" y="2108200"/>
            <a:ext cx="4495800" cy="1041400"/>
          </a:xfrm>
          <a:prstGeom prst="rect">
            <a:avLst/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LLM 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입력 확장</a:t>
            </a:r>
          </a:p>
          <a:p>
            <a:pPr algn="ctr"/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policy_generation_mode, pattern_analysis, pattern_features, 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범위</a:t>
            </a:r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경계</a:t>
            </a:r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대화 맥락 전달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75C24FC-EDB0-05EF-C761-CAFCE1F07EDA}"/>
              </a:ext>
            </a:extLst>
          </p:cNvPr>
          <p:cNvSpPr/>
          <p:nvPr/>
        </p:nvSpPr>
        <p:spPr>
          <a:xfrm>
            <a:off x="990600" y="3530600"/>
            <a:ext cx="6604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16A34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endParaRPr lang="ko-KR" altLang="en-US" sz="900" b="1">
              <a:solidFill>
                <a:srgbClr val="16A34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Implementation">
            <a:extLst>
              <a:ext uri="{FF2B5EF4-FFF2-40B4-BE49-F238E27FC236}">
                <a16:creationId xmlns:a16="http://schemas.microsoft.com/office/drawing/2014/main" id="{3928D9CE-516C-5A62-5526-EBC4D5722077}"/>
              </a:ext>
            </a:extLst>
          </p:cNvPr>
          <p:cNvSpPr/>
          <p:nvPr/>
        </p:nvSpPr>
        <p:spPr>
          <a:xfrm>
            <a:off x="990600" y="3962400"/>
            <a:ext cx="4495800" cy="1041400"/>
          </a:xfrm>
          <a:prstGeom prst="rect">
            <a:avLst/>
          </a:prstGeom>
          <a:solidFill>
            <a:srgbClr val="F0FDF4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결정 필드 추가</a:t>
            </a:r>
          </a:p>
          <a:p>
            <a:pPr algn="ctr"/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policy_action, reason_category, proposed_policy_summary 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추가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933EDA6-2FBF-BBA1-3927-4E51D894D5F1}"/>
              </a:ext>
            </a:extLst>
          </p:cNvPr>
          <p:cNvSpPr/>
          <p:nvPr/>
        </p:nvSpPr>
        <p:spPr>
          <a:xfrm>
            <a:off x="6223000" y="3530600"/>
            <a:ext cx="6604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7C3AE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endParaRPr lang="ko-KR" altLang="en-US" sz="900" b="1">
              <a:solidFill>
                <a:srgbClr val="7C3AE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Implementation">
            <a:extLst>
              <a:ext uri="{FF2B5EF4-FFF2-40B4-BE49-F238E27FC236}">
                <a16:creationId xmlns:a16="http://schemas.microsoft.com/office/drawing/2014/main" id="{2B320737-D10D-770B-A404-F2AAFC3EC1B0}"/>
              </a:ext>
            </a:extLst>
          </p:cNvPr>
          <p:cNvSpPr/>
          <p:nvPr/>
        </p:nvSpPr>
        <p:spPr>
          <a:xfrm>
            <a:off x="6223000" y="3962400"/>
            <a:ext cx="4495800" cy="1041400"/>
          </a:xfrm>
          <a:prstGeom prst="rect">
            <a:avLst/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프롬프트 </a:t>
            </a:r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v14</a:t>
            </a:r>
          </a:p>
          <a:p>
            <a:pPr algn="ctr"/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miss_rate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만 보고 자동 알림 강화 금지</a:t>
            </a:r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LLM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</a:t>
            </a:r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policy_action 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선택</a:t>
            </a:r>
          </a:p>
        </p:txBody>
      </p:sp>
      <p:sp>
        <p:nvSpPr>
          <p:cNvPr id="14" name="Footer">
            <a:extLst>
              <a:ext uri="{FF2B5EF4-FFF2-40B4-BE49-F238E27FC236}">
                <a16:creationId xmlns:a16="http://schemas.microsoft.com/office/drawing/2014/main" id="{223743B1-4A1C-2950-DA14-59014427BE06}"/>
              </a:ext>
            </a:extLst>
          </p:cNvPr>
          <p:cNvSpPr txBox="1"/>
          <p:nvPr/>
        </p:nvSpPr>
        <p:spPr>
          <a:xfrm>
            <a:off x="495300" y="6540500"/>
            <a:ext cx="9271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구현 핵심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결정 근거를 구조화하고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 맥락을 입력 관찰값으로 전달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DE0A4EAE-83F0-BF0F-8D59-A602DB356AB8}"/>
              </a:ext>
            </a:extLst>
          </p:cNvPr>
          <p:cNvSpPr txBox="1"/>
          <p:nvPr/>
        </p:nvSpPr>
        <p:spPr>
          <a:xfrm>
            <a:off x="11074400" y="6540500"/>
            <a:ext cx="635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pPr algn="r"/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3/5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6889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518CF66-D4A2-B716-26F9-4EE949C72858}"/>
              </a:ext>
            </a:extLst>
          </p:cNvPr>
          <p:cNvSpPr/>
          <p:nvPr/>
        </p:nvSpPr>
        <p:spPr>
          <a:xfrm>
            <a:off x="431800" y="4064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2A6104A-51E5-AE2A-9F64-0EB655D781F7}"/>
              </a:ext>
            </a:extLst>
          </p:cNvPr>
          <p:cNvSpPr txBox="1"/>
          <p:nvPr/>
        </p:nvSpPr>
        <p:spPr>
          <a:xfrm>
            <a:off x="685800" y="330200"/>
            <a:ext cx="9652000" cy="451406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해결된 문제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E78F72A-8919-7394-B314-CB717ADD2047}"/>
              </a:ext>
            </a:extLst>
          </p:cNvPr>
          <p:cNvSpPr txBox="1"/>
          <p:nvPr/>
        </p:nvSpPr>
        <p:spPr>
          <a:xfrm>
            <a:off x="698500" y="787400"/>
            <a:ext cx="10033000" cy="282129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 call 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유무가 아니라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policy_action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판단을 해석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2ED85D5-5710-E1A4-5755-27C620E098D5}"/>
              </a:ext>
            </a:extLst>
          </p:cNvPr>
          <p:cNvCxnSpPr/>
          <p:nvPr/>
        </p:nvCxnSpPr>
        <p:spPr>
          <a:xfrm>
            <a:off x="431800" y="12192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roblem">
            <a:extLst>
              <a:ext uri="{FF2B5EF4-FFF2-40B4-BE49-F238E27FC236}">
                <a16:creationId xmlns:a16="http://schemas.microsoft.com/office/drawing/2014/main" id="{131B0295-5CE6-ACCA-548B-D5F3797E462E}"/>
              </a:ext>
            </a:extLst>
          </p:cNvPr>
          <p:cNvSpPr/>
          <p:nvPr/>
        </p:nvSpPr>
        <p:spPr>
          <a:xfrm>
            <a:off x="1092200" y="1651000"/>
            <a:ext cx="4191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휴리스틱이 정책 후보를 먼저 결정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321382F-15E6-2964-6829-7BBA4B92FA23}"/>
              </a:ext>
            </a:extLst>
          </p:cNvPr>
          <p:cNvCxnSpPr/>
          <p:nvPr/>
        </p:nvCxnSpPr>
        <p:spPr>
          <a:xfrm>
            <a:off x="5461000" y="1993900"/>
            <a:ext cx="8890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olved">
            <a:extLst>
              <a:ext uri="{FF2B5EF4-FFF2-40B4-BE49-F238E27FC236}">
                <a16:creationId xmlns:a16="http://schemas.microsoft.com/office/drawing/2014/main" id="{E88551E9-9474-0CF7-5882-E33C6BBBDED8}"/>
              </a:ext>
            </a:extLst>
          </p:cNvPr>
          <p:cNvSpPr/>
          <p:nvPr/>
        </p:nvSpPr>
        <p:spPr>
          <a:xfrm>
            <a:off x="6578600" y="1651000"/>
            <a:ext cx="4521200" cy="685800"/>
          </a:xfrm>
          <a:prstGeom prst="rect">
            <a:avLst/>
          </a:prstGeom>
          <a:solidFill>
            <a:srgbClr val="F0FDF4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LLM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</a:t>
            </a:r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policy_action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직접 선택</a:t>
            </a:r>
          </a:p>
        </p:txBody>
      </p:sp>
      <p:sp>
        <p:nvSpPr>
          <p:cNvPr id="9" name="Problem">
            <a:extLst>
              <a:ext uri="{FF2B5EF4-FFF2-40B4-BE49-F238E27FC236}">
                <a16:creationId xmlns:a16="http://schemas.microsoft.com/office/drawing/2014/main" id="{85D01D10-3D86-3A44-7781-86F7036B7EE5}"/>
              </a:ext>
            </a:extLst>
          </p:cNvPr>
          <p:cNvSpPr/>
          <p:nvPr/>
        </p:nvSpPr>
        <p:spPr>
          <a:xfrm>
            <a:off x="1092200" y="2641600"/>
            <a:ext cx="4191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 상황에서도 알림 강화 후보 생성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16F1441-3CEC-8B0E-D0AE-213501226733}"/>
              </a:ext>
            </a:extLst>
          </p:cNvPr>
          <p:cNvCxnSpPr/>
          <p:nvPr/>
        </p:nvCxnSpPr>
        <p:spPr>
          <a:xfrm>
            <a:off x="5461000" y="2984500"/>
            <a:ext cx="8890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olved">
            <a:extLst>
              <a:ext uri="{FF2B5EF4-FFF2-40B4-BE49-F238E27FC236}">
                <a16:creationId xmlns:a16="http://schemas.microsoft.com/office/drawing/2014/main" id="{0A56E552-FA1B-C3AD-A135-77C29382FA4C}"/>
              </a:ext>
            </a:extLst>
          </p:cNvPr>
          <p:cNvSpPr/>
          <p:nvPr/>
        </p:nvSpPr>
        <p:spPr>
          <a:xfrm>
            <a:off x="6578600" y="2641600"/>
            <a:ext cx="4521200" cy="6858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side_effect_concern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이면 보류</a:t>
            </a:r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의료 확인 가능</a:t>
            </a:r>
          </a:p>
        </p:txBody>
      </p:sp>
      <p:sp>
        <p:nvSpPr>
          <p:cNvPr id="12" name="Problem">
            <a:extLst>
              <a:ext uri="{FF2B5EF4-FFF2-40B4-BE49-F238E27FC236}">
                <a16:creationId xmlns:a16="http://schemas.microsoft.com/office/drawing/2014/main" id="{91E003F3-5770-B52C-3832-A5E105A72CE8}"/>
              </a:ext>
            </a:extLst>
          </p:cNvPr>
          <p:cNvSpPr/>
          <p:nvPr/>
        </p:nvSpPr>
        <p:spPr>
          <a:xfrm>
            <a:off x="1092200" y="3632200"/>
            <a:ext cx="4191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tool call 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없음이 실패처럼 보임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09B755-8F30-7E9E-7E5C-AEE73DE41BEA}"/>
              </a:ext>
            </a:extLst>
          </p:cNvPr>
          <p:cNvCxnSpPr/>
          <p:nvPr/>
        </p:nvCxnSpPr>
        <p:spPr>
          <a:xfrm>
            <a:off x="5461000" y="3975100"/>
            <a:ext cx="8890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olved">
            <a:extLst>
              <a:ext uri="{FF2B5EF4-FFF2-40B4-BE49-F238E27FC236}">
                <a16:creationId xmlns:a16="http://schemas.microsoft.com/office/drawing/2014/main" id="{4797388F-7E1D-6080-ED30-024804EBF518}"/>
              </a:ext>
            </a:extLst>
          </p:cNvPr>
          <p:cNvSpPr/>
          <p:nvPr/>
        </p:nvSpPr>
        <p:spPr>
          <a:xfrm>
            <a:off x="6578600" y="3632200"/>
            <a:ext cx="4521200" cy="685800"/>
          </a:xfrm>
          <a:prstGeom prst="rect">
            <a:avLst/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pause/keep/ask/escalate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정상 </a:t>
            </a:r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no-change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기록</a:t>
            </a:r>
          </a:p>
        </p:txBody>
      </p:sp>
      <p:sp>
        <p:nvSpPr>
          <p:cNvPr id="15" name="Problem">
            <a:extLst>
              <a:ext uri="{FF2B5EF4-FFF2-40B4-BE49-F238E27FC236}">
                <a16:creationId xmlns:a16="http://schemas.microsoft.com/office/drawing/2014/main" id="{8C9CD1E6-75C0-E71E-07D7-9D0D88E2512D}"/>
              </a:ext>
            </a:extLst>
          </p:cNvPr>
          <p:cNvSpPr/>
          <p:nvPr/>
        </p:nvSpPr>
        <p:spPr>
          <a:xfrm>
            <a:off x="1092200" y="4622800"/>
            <a:ext cx="4191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판단 이유 설명 어려움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0BBE222-D7F0-2C98-88D2-FCECE4DA1C15}"/>
              </a:ext>
            </a:extLst>
          </p:cNvPr>
          <p:cNvCxnSpPr/>
          <p:nvPr/>
        </p:nvCxnSpPr>
        <p:spPr>
          <a:xfrm>
            <a:off x="5461000" y="4965700"/>
            <a:ext cx="8890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olved">
            <a:extLst>
              <a:ext uri="{FF2B5EF4-FFF2-40B4-BE49-F238E27FC236}">
                <a16:creationId xmlns:a16="http://schemas.microsoft.com/office/drawing/2014/main" id="{6934C027-E12B-698B-22EA-F8C1D7861A48}"/>
              </a:ext>
            </a:extLst>
          </p:cNvPr>
          <p:cNvSpPr/>
          <p:nvPr/>
        </p:nvSpPr>
        <p:spPr>
          <a:xfrm>
            <a:off x="6578600" y="4622800"/>
            <a:ext cx="4521200" cy="685800"/>
          </a:xfrm>
          <a:prstGeom prst="rect">
            <a:avLst/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reason_category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와 </a:t>
            </a:r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proposed_policy_summary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감사 가능</a:t>
            </a:r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FD934EDC-4B79-750A-EFC4-214F2D3E7D32}"/>
              </a:ext>
            </a:extLst>
          </p:cNvPr>
          <p:cNvSpPr txBox="1"/>
          <p:nvPr/>
        </p:nvSpPr>
        <p:spPr>
          <a:xfrm>
            <a:off x="495300" y="6540500"/>
            <a:ext cx="9271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운영 의미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실패 로그와 정상 보류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유지를 명확히 구분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34EC558C-8E70-1838-43AC-DD755580C9DA}"/>
              </a:ext>
            </a:extLst>
          </p:cNvPr>
          <p:cNvSpPr txBox="1"/>
          <p:nvPr/>
        </p:nvSpPr>
        <p:spPr>
          <a:xfrm>
            <a:off x="11074400" y="6540500"/>
            <a:ext cx="635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pPr algn="r"/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4/5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1438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AD2ADD3-C00C-C5D7-CD58-69D029756905}"/>
              </a:ext>
            </a:extLst>
          </p:cNvPr>
          <p:cNvSpPr/>
          <p:nvPr/>
        </p:nvSpPr>
        <p:spPr>
          <a:xfrm>
            <a:off x="431800" y="4064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03B377B-A587-2734-4D4E-77941CE5C1FB}"/>
              </a:ext>
            </a:extLst>
          </p:cNvPr>
          <p:cNvSpPr txBox="1"/>
          <p:nvPr/>
        </p:nvSpPr>
        <p:spPr>
          <a:xfrm>
            <a:off x="685800" y="330200"/>
            <a:ext cx="9652000" cy="451406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테스트 결과와 기대 효과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6274126-7F1F-7E96-DF48-BEF64DD01F69}"/>
              </a:ext>
            </a:extLst>
          </p:cNvPr>
          <p:cNvSpPr txBox="1"/>
          <p:nvPr/>
        </p:nvSpPr>
        <p:spPr>
          <a:xfrm>
            <a:off x="698500" y="787400"/>
            <a:ext cx="10033000" cy="282129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변경이 미복용률만으로 자동 결정되지 않는다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EC94DC1-7BC6-25FC-278F-A75866C7C46A}"/>
              </a:ext>
            </a:extLst>
          </p:cNvPr>
          <p:cNvCxnSpPr/>
          <p:nvPr/>
        </p:nvCxnSpPr>
        <p:spPr>
          <a:xfrm>
            <a:off x="431800" y="12192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sts">
            <a:extLst>
              <a:ext uri="{FF2B5EF4-FFF2-40B4-BE49-F238E27FC236}">
                <a16:creationId xmlns:a16="http://schemas.microsoft.com/office/drawing/2014/main" id="{04D1FD51-B9F5-1A1D-DA60-790526B2FE5B}"/>
              </a:ext>
            </a:extLst>
          </p:cNvPr>
          <p:cNvSpPr/>
          <p:nvPr/>
        </p:nvSpPr>
        <p:spPr>
          <a:xfrm>
            <a:off x="1168400" y="1854200"/>
            <a:ext cx="3810000" cy="149860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테스트 결과</a:t>
            </a:r>
          </a:p>
          <a:p>
            <a:pPr algn="ctr"/>
            <a:r>
              <a:rPr lang="en-US" altLang="ko-KR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168 passed in 12.81s</a:t>
            </a:r>
            <a:endParaRPr lang="ko-KR" altLang="en-US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Effect1">
            <a:extLst>
              <a:ext uri="{FF2B5EF4-FFF2-40B4-BE49-F238E27FC236}">
                <a16:creationId xmlns:a16="http://schemas.microsoft.com/office/drawing/2014/main" id="{9767A052-A63C-6C73-A6D5-A3ED6CF299BD}"/>
              </a:ext>
            </a:extLst>
          </p:cNvPr>
          <p:cNvSpPr/>
          <p:nvPr/>
        </p:nvSpPr>
        <p:spPr>
          <a:xfrm>
            <a:off x="5562600" y="1600200"/>
            <a:ext cx="49530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환자 답변과 부작용 맥락이 정책 결정 전에 반영됨</a:t>
            </a:r>
          </a:p>
        </p:txBody>
      </p:sp>
      <p:sp>
        <p:nvSpPr>
          <p:cNvPr id="8" name="Effect2">
            <a:extLst>
              <a:ext uri="{FF2B5EF4-FFF2-40B4-BE49-F238E27FC236}">
                <a16:creationId xmlns:a16="http://schemas.microsoft.com/office/drawing/2014/main" id="{0BEF77D2-F728-1FC9-C923-231794B3FCB9}"/>
              </a:ext>
            </a:extLst>
          </p:cNvPr>
          <p:cNvSpPr/>
          <p:nvPr/>
        </p:nvSpPr>
        <p:spPr>
          <a:xfrm>
            <a:off x="5562600" y="2743200"/>
            <a:ext cx="49530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부작용으로 복약을 피하는 상황에서는 증상 평가와 의료진 확인을 우선</a:t>
            </a:r>
          </a:p>
        </p:txBody>
      </p:sp>
      <p:sp>
        <p:nvSpPr>
          <p:cNvPr id="9" name="Effect3">
            <a:extLst>
              <a:ext uri="{FF2B5EF4-FFF2-40B4-BE49-F238E27FC236}">
                <a16:creationId xmlns:a16="http://schemas.microsoft.com/office/drawing/2014/main" id="{AA34E80C-7F93-CE87-B1A9-6E3492FC1575}"/>
              </a:ext>
            </a:extLst>
          </p:cNvPr>
          <p:cNvSpPr/>
          <p:nvPr/>
        </p:nvSpPr>
        <p:spPr>
          <a:xfrm>
            <a:off x="5562600" y="3886200"/>
            <a:ext cx="4953000" cy="88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system_app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은 안전 검증과 중복 차단 역할에 집중</a:t>
            </a:r>
          </a:p>
        </p:txBody>
      </p:sp>
      <p:sp>
        <p:nvSpPr>
          <p:cNvPr id="10" name="Bottom">
            <a:extLst>
              <a:ext uri="{FF2B5EF4-FFF2-40B4-BE49-F238E27FC236}">
                <a16:creationId xmlns:a16="http://schemas.microsoft.com/office/drawing/2014/main" id="{0C7D235F-30AC-E827-9FDC-6CD640E3B344}"/>
              </a:ext>
            </a:extLst>
          </p:cNvPr>
          <p:cNvSpPr/>
          <p:nvPr/>
        </p:nvSpPr>
        <p:spPr>
          <a:xfrm>
            <a:off x="1422400" y="5461000"/>
            <a:ext cx="9347200" cy="6096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기대 효과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'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미복용률이 높으니 알림 강화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아니라 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상황에 맞는 정책 액션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전환된다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1690735D-03F0-31FB-949C-5BBB3208189B}"/>
              </a:ext>
            </a:extLst>
          </p:cNvPr>
          <p:cNvSpPr txBox="1"/>
          <p:nvPr/>
        </p:nvSpPr>
        <p:spPr>
          <a:xfrm>
            <a:off x="495300" y="6540500"/>
            <a:ext cx="9271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결론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LLM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중심 정책 결정으로 제품 판단과 감사 가능성을 함께 개선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90FBE638-B9A4-5CD0-DD7D-ED18D2D9A2B8}"/>
              </a:ext>
            </a:extLst>
          </p:cNvPr>
          <p:cNvSpPr txBox="1"/>
          <p:nvPr/>
        </p:nvSpPr>
        <p:spPr>
          <a:xfrm>
            <a:off x="11074400" y="6540500"/>
            <a:ext cx="635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pPr algn="r"/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5/5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2484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</Words>
  <Application>Microsoft Office PowerPoint</Application>
  <PresentationFormat>사용자 지정</PresentationFormat>
  <Paragraphs>67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sunghyeon park</dc:creator>
  <cp:lastModifiedBy>sunghyeon park</cp:lastModifiedBy>
  <cp:revision>1</cp:revision>
  <dcterms:created xsi:type="dcterms:W3CDTF">2026-05-18T02:01:26Z</dcterms:created>
  <dcterms:modified xsi:type="dcterms:W3CDTF">2026-05-18T02:01:26Z</dcterms:modified>
</cp:coreProperties>
</file>